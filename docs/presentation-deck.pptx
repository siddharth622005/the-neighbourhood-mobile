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822960"/>
            <a:ext cx="8229600" cy="2743200"/>
          </a:xfrm>
          <a:prstGeom prst="rect">
            <a:avLst/>
          </a:prstGeom>
          <a:noFill/>
          <a:ln/>
        </p:spPr>
        <p:txBody>
          <a:bodyPr wrap="square" lIns="0" tIns="0" rIns="0" bIns="0" rtlCol="0" anchor="ctr"/>
          <a:lstStyle/>
          <a:p>
            <a:pPr indent="0" marL="0">
              <a:lnSpc>
                <a:spcPct val="100000"/>
              </a:lnSpc>
              <a:buNone/>
            </a:pPr>
            <a:r>
              <a:rPr lang="en-US" sz="5400" dirty="0">
                <a:solidFill>
                  <a:srgbClr val="2C2C2C"/>
                </a:solidFill>
                <a:latin typeface="Cambria" pitchFamily="34" charset="0"/>
                <a:ea typeface="Cambria" pitchFamily="34" charset="-122"/>
                <a:cs typeface="Cambria" pitchFamily="34" charset="-120"/>
              </a:rPr>
              <a:t>Two months.</a:t>
            </a:r>
            <a:endParaRPr lang="en-US" sz="5400" dirty="0"/>
          </a:p>
          <a:p>
            <a:pPr indent="0" marL="0">
              <a:lnSpc>
                <a:spcPct val="100000"/>
              </a:lnSpc>
              <a:buNone/>
            </a:pPr>
            <a:r>
              <a:rPr lang="en-US" sz="5400" dirty="0">
                <a:solidFill>
                  <a:srgbClr val="2C2C2C"/>
                </a:solidFill>
                <a:latin typeface="Cambria" pitchFamily="34" charset="0"/>
                <a:ea typeface="Cambria" pitchFamily="34" charset="-122"/>
                <a:cs typeface="Cambria" pitchFamily="34" charset="-120"/>
              </a:rPr>
              <a:t>A website</a:t>
            </a:r>
            <a:endParaRPr lang="en-US" sz="5400" dirty="0"/>
          </a:p>
          <a:p>
            <a:pPr indent="0" marL="0">
              <a:lnSpc>
                <a:spcPct val="100000"/>
              </a:lnSpc>
              <a:buNone/>
            </a:pPr>
            <a:r>
              <a:rPr lang="en-US" sz="5400" dirty="0">
                <a:solidFill>
                  <a:srgbClr val="2C2C2C"/>
                </a:solidFill>
                <a:latin typeface="Cambria" pitchFamily="34" charset="0"/>
                <a:ea typeface="Cambria" pitchFamily="34" charset="-122"/>
                <a:cs typeface="Cambria" pitchFamily="34" charset="-120"/>
              </a:rPr>
              <a:t>and an app.</a:t>
            </a:r>
            <a:endParaRPr lang="en-US" sz="5400" dirty="0"/>
          </a:p>
        </p:txBody>
      </p:sp>
      <p:sp>
        <p:nvSpPr>
          <p:cNvPr id="3" name="Text 1"/>
          <p:cNvSpPr/>
          <p:nvPr/>
        </p:nvSpPr>
        <p:spPr>
          <a:xfrm>
            <a:off x="640080" y="3703320"/>
            <a:ext cx="6949440" cy="1005840"/>
          </a:xfrm>
          <a:prstGeom prst="rect">
            <a:avLst/>
          </a:prstGeom>
          <a:noFill/>
          <a:ln/>
        </p:spPr>
        <p:txBody>
          <a:bodyPr wrap="square" lIns="0" tIns="0" rIns="0" bIns="0" rtlCol="0" anchor="ctr"/>
          <a:lstStyle/>
          <a:p>
            <a:pPr indent="0" marL="0">
              <a:lnSpc>
                <a:spcPct val="125000"/>
              </a:lnSpc>
              <a:buNone/>
            </a:pPr>
            <a:r>
              <a:rPr lang="en-US" sz="1800" dirty="0">
                <a:solidFill>
                  <a:srgbClr val="2C2C2C"/>
                </a:solidFill>
                <a:latin typeface="Calibri" pitchFamily="34" charset="0"/>
                <a:ea typeface="Calibri" pitchFamily="34" charset="-122"/>
                <a:cs typeface="Calibri" pitchFamily="34" charset="-120"/>
              </a:rPr>
              <a:t>The Neighbourhood exists to turn everyday moments into meaningful childhood memories, with as little friction as possible.</a:t>
            </a:r>
            <a:endParaRPr lang="en-US" sz="1800" dirty="0"/>
          </a:p>
        </p:txBody>
      </p:sp>
      <p:sp>
        <p:nvSpPr>
          <p:cNvPr id="4" name="Text 2"/>
          <p:cNvSpPr/>
          <p:nvPr/>
        </p:nvSpPr>
        <p:spPr>
          <a:xfrm>
            <a:off x="640080" y="4892040"/>
            <a:ext cx="8229600" cy="320040"/>
          </a:xfrm>
          <a:prstGeom prst="rect">
            <a:avLst/>
          </a:prstGeom>
          <a:noFill/>
          <a:ln/>
        </p:spPr>
        <p:txBody>
          <a:bodyPr wrap="square" lIns="0" tIns="0" rIns="0" bIns="0" rtlCol="0" anchor="ctr"/>
          <a:lstStyle/>
          <a:p>
            <a:pPr indent="0" marL="0">
              <a:buNone/>
            </a:pPr>
            <a:r>
              <a:rPr lang="en-US" sz="1100" spc="100" kern="0" dirty="0">
                <a:solidFill>
                  <a:srgbClr val="9C9184"/>
                </a:solidFill>
                <a:latin typeface="Consolas" pitchFamily="34" charset="0"/>
                <a:ea typeface="Consolas" pitchFamily="34" charset="-122"/>
                <a:cs typeface="Consolas" pitchFamily="34" charset="-120"/>
              </a:rPr>
              <a:t>SIDDHARTH  ·  THE NEIGHBOURHOOD  ·  22 JUNE TO 22 AUGUST 2026</a:t>
            </a:r>
            <a:endParaRPr lang="en-US" sz="1100" dirty="0"/>
          </a:p>
        </p:txBody>
      </p:sp>
      <p:sp>
        <p:nvSpPr>
          <p:cNvPr id="5" name="Text 3"/>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01 / 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algn="l" indent="0" marL="0">
              <a:buNone/>
            </a:pPr>
            <a:r>
              <a:rPr lang="en-US" sz="1100" b="1" spc="200" kern="0" dirty="0">
                <a:solidFill>
                  <a:srgbClr val="89745B"/>
                </a:solidFill>
                <a:latin typeface="Calibri" pitchFamily="34" charset="0"/>
                <a:ea typeface="Calibri" pitchFamily="34" charset="-122"/>
                <a:cs typeface="Calibri" pitchFamily="34" charset="-120"/>
              </a:rPr>
              <a:t>WHAT WE'RE BUILDING</a:t>
            </a:r>
            <a:endParaRPr lang="en-US" sz="1100" dirty="0"/>
          </a:p>
        </p:txBody>
      </p:sp>
      <p:sp>
        <p:nvSpPr>
          <p:cNvPr id="3" name="Text 1"/>
          <p:cNvSpPr/>
          <p:nvPr/>
        </p:nvSpPr>
        <p:spPr>
          <a:xfrm>
            <a:off x="640080" y="777240"/>
            <a:ext cx="9601200" cy="1005840"/>
          </a:xfrm>
          <a:prstGeom prst="rect">
            <a:avLst/>
          </a:prstGeom>
          <a:noFill/>
          <a:ln/>
        </p:spPr>
        <p:txBody>
          <a:bodyPr wrap="square" lIns="0" tIns="0" rIns="0" bIns="0" rtlCol="0" anchor="ctr"/>
          <a:lstStyle/>
          <a:p>
            <a:pPr algn="l" indent="0" marL="0">
              <a:buNone/>
            </a:pPr>
            <a:r>
              <a:rPr lang="en-US" sz="3400" dirty="0">
                <a:solidFill>
                  <a:srgbClr val="2C2C2C"/>
                </a:solidFill>
                <a:latin typeface="Cambria" pitchFamily="34" charset="0"/>
                <a:ea typeface="Cambria" pitchFamily="34" charset="-122"/>
                <a:cs typeface="Cambria" pitchFamily="34" charset="-120"/>
              </a:rPr>
              <a:t>More than Home.</a:t>
            </a:r>
            <a:endParaRPr lang="en-US" sz="3400" dirty="0"/>
          </a:p>
        </p:txBody>
      </p:sp>
      <p:sp>
        <p:nvSpPr>
          <p:cNvPr id="4" name="Shape 2"/>
          <p:cNvSpPr/>
          <p:nvPr/>
        </p:nvSpPr>
        <p:spPr>
          <a:xfrm>
            <a:off x="640080" y="1874520"/>
            <a:ext cx="3529584" cy="134416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5" name="Text 3"/>
          <p:cNvSpPr/>
          <p:nvPr/>
        </p:nvSpPr>
        <p:spPr>
          <a:xfrm>
            <a:off x="804672"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Home</a:t>
            </a:r>
            <a:endParaRPr lang="en-US" sz="1350" dirty="0"/>
          </a:p>
        </p:txBody>
      </p:sp>
      <p:sp>
        <p:nvSpPr>
          <p:cNvPr id="6" name="Text 4"/>
          <p:cNvSpPr/>
          <p:nvPr/>
        </p:nvSpPr>
        <p:spPr>
          <a:xfrm>
            <a:off x="804672" y="2331720"/>
            <a:ext cx="3200400" cy="74066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Four development activities a day, one each for motor, communication, cognitive, and social skills.</a:t>
            </a:r>
            <a:endParaRPr lang="en-US" sz="1050" dirty="0"/>
          </a:p>
        </p:txBody>
      </p:sp>
      <p:sp>
        <p:nvSpPr>
          <p:cNvPr id="7" name="Shape 5"/>
          <p:cNvSpPr/>
          <p:nvPr/>
        </p:nvSpPr>
        <p:spPr>
          <a:xfrm>
            <a:off x="4315968" y="1874520"/>
            <a:ext cx="3529584" cy="134416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8" name="Text 6"/>
          <p:cNvSpPr/>
          <p:nvPr/>
        </p:nvSpPr>
        <p:spPr>
          <a:xfrm>
            <a:off x="4480560"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Community</a:t>
            </a:r>
            <a:endParaRPr lang="en-US" sz="1350" dirty="0"/>
          </a:p>
        </p:txBody>
      </p:sp>
      <p:sp>
        <p:nvSpPr>
          <p:cNvPr id="9" name="Text 7"/>
          <p:cNvSpPr/>
          <p:nvPr/>
        </p:nvSpPr>
        <p:spPr>
          <a:xfrm>
            <a:off x="4480560" y="2331720"/>
            <a:ext cx="3200400" cy="74066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Real parents at a similar stage. Questions, answers, and moderation built in.</a:t>
            </a:r>
            <a:endParaRPr lang="en-US" sz="1050" dirty="0"/>
          </a:p>
        </p:txBody>
      </p:sp>
      <p:sp>
        <p:nvSpPr>
          <p:cNvPr id="10" name="Shape 8"/>
          <p:cNvSpPr/>
          <p:nvPr/>
        </p:nvSpPr>
        <p:spPr>
          <a:xfrm>
            <a:off x="7991856" y="1874520"/>
            <a:ext cx="3529584" cy="134416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11" name="Text 9"/>
          <p:cNvSpPr/>
          <p:nvPr/>
        </p:nvSpPr>
        <p:spPr>
          <a:xfrm>
            <a:off x="8156448"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Ask</a:t>
            </a:r>
            <a:endParaRPr lang="en-US" sz="1350" dirty="0"/>
          </a:p>
        </p:txBody>
      </p:sp>
      <p:sp>
        <p:nvSpPr>
          <p:cNvPr id="12" name="Text 10"/>
          <p:cNvSpPr/>
          <p:nvPr/>
        </p:nvSpPr>
        <p:spPr>
          <a:xfrm>
            <a:off x="8156448" y="2331720"/>
            <a:ext cx="3200400" cy="74066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An AI that knows the child's age and the parent's own situation. One assistant, two audiences.</a:t>
            </a:r>
            <a:endParaRPr lang="en-US" sz="1050" dirty="0"/>
          </a:p>
        </p:txBody>
      </p:sp>
      <p:sp>
        <p:nvSpPr>
          <p:cNvPr id="13" name="Shape 11"/>
          <p:cNvSpPr/>
          <p:nvPr/>
        </p:nvSpPr>
        <p:spPr>
          <a:xfrm>
            <a:off x="640080" y="3364992"/>
            <a:ext cx="3529584" cy="134416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14" name="Text 12"/>
          <p:cNvSpPr/>
          <p:nvPr/>
        </p:nvSpPr>
        <p:spPr>
          <a:xfrm>
            <a:off x="804672" y="3493008"/>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Child</a:t>
            </a:r>
            <a:endParaRPr lang="en-US" sz="1350" dirty="0"/>
          </a:p>
        </p:txBody>
      </p:sp>
      <p:sp>
        <p:nvSpPr>
          <p:cNvPr id="15" name="Text 13"/>
          <p:cNvSpPr/>
          <p:nvPr/>
        </p:nvSpPr>
        <p:spPr>
          <a:xfrm>
            <a:off x="804672" y="3822192"/>
            <a:ext cx="3200400" cy="74066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137 milestones, a full vaccination schedule, meal planning, and a development kit.</a:t>
            </a:r>
            <a:endParaRPr lang="en-US" sz="1050" dirty="0"/>
          </a:p>
        </p:txBody>
      </p:sp>
      <p:sp>
        <p:nvSpPr>
          <p:cNvPr id="16" name="Shape 14"/>
          <p:cNvSpPr/>
          <p:nvPr/>
        </p:nvSpPr>
        <p:spPr>
          <a:xfrm>
            <a:off x="4315968" y="3364992"/>
            <a:ext cx="3529584" cy="134416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17" name="Text 15"/>
          <p:cNvSpPr/>
          <p:nvPr/>
        </p:nvSpPr>
        <p:spPr>
          <a:xfrm>
            <a:off x="4480560" y="3493008"/>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You</a:t>
            </a:r>
            <a:endParaRPr lang="en-US" sz="1350" dirty="0"/>
          </a:p>
        </p:txBody>
      </p:sp>
      <p:sp>
        <p:nvSpPr>
          <p:cNvPr id="18" name="Text 16"/>
          <p:cNvSpPr/>
          <p:nvPr/>
        </p:nvSpPr>
        <p:spPr>
          <a:xfrm>
            <a:off x="4480560" y="3822192"/>
            <a:ext cx="3200400" cy="74066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The parent's own recovery, nutrition, and mental health. Not an afterthought. A whole side of the app.</a:t>
            </a:r>
            <a:endParaRPr lang="en-US" sz="1050" dirty="0"/>
          </a:p>
        </p:txBody>
      </p:sp>
      <p:sp>
        <p:nvSpPr>
          <p:cNvPr id="19" name="Text 17"/>
          <p:cNvSpPr/>
          <p:nvPr/>
        </p:nvSpPr>
        <p:spPr>
          <a:xfrm>
            <a:off x="640080" y="4892040"/>
            <a:ext cx="9601200" cy="548640"/>
          </a:xfrm>
          <a:prstGeom prst="rect">
            <a:avLst/>
          </a:prstGeom>
          <a:noFill/>
          <a:ln/>
        </p:spPr>
        <p:txBody>
          <a:bodyPr wrap="square" lIns="0" tIns="0" rIns="0" bIns="0" rtlCol="0" anchor="ctr"/>
          <a:lstStyle/>
          <a:p>
            <a:pPr indent="0" marL="0">
              <a:lnSpc>
                <a:spcPct val="120000"/>
              </a:lnSpc>
              <a:buNone/>
            </a:pPr>
            <a:r>
              <a:rPr lang="en-US" sz="1250" dirty="0">
                <a:solidFill>
                  <a:srgbClr val="6A6157"/>
                </a:solidFill>
                <a:latin typeface="Calibri" pitchFamily="34" charset="0"/>
                <a:ea typeface="Calibri" pitchFamily="34" charset="-122"/>
                <a:cs typeface="Calibri" pitchFamily="34" charset="-120"/>
              </a:rPr>
              <a:t>Home is the daily habit, the reason to open the app again tomorrow. The other four are why it's worth keeping open.</a:t>
            </a:r>
            <a:endParaRPr lang="en-US" sz="1250" dirty="0"/>
          </a:p>
        </p:txBody>
      </p:sp>
      <p:sp>
        <p:nvSpPr>
          <p:cNvPr id="20" name="Text 18"/>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502920"/>
            <a:ext cx="9601200" cy="1005840"/>
          </a:xfrm>
          <a:prstGeom prst="rect">
            <a:avLst/>
          </a:prstGeom>
          <a:noFill/>
          <a:ln/>
        </p:spPr>
        <p:txBody>
          <a:bodyPr wrap="square" lIns="0" tIns="0" rIns="0" bIns="0" rtlCol="0" anchor="ctr"/>
          <a:lstStyle/>
          <a:p>
            <a:pPr algn="l" indent="0" marL="0">
              <a:buNone/>
            </a:pPr>
            <a:r>
              <a:rPr lang="en-US" sz="3200" dirty="0">
                <a:solidFill>
                  <a:srgbClr val="2C2C2C"/>
                </a:solidFill>
                <a:latin typeface="Cambria" pitchFamily="34" charset="0"/>
                <a:ea typeface="Cambria" pitchFamily="34" charset="-122"/>
                <a:cs typeface="Cambria" pitchFamily="34" charset="-120"/>
              </a:rPr>
              <a:t>The website, week by week</a:t>
            </a:r>
            <a:endParaRPr lang="en-US" sz="3200" dirty="0"/>
          </a:p>
        </p:txBody>
      </p:sp>
      <p:pic>
        <p:nvPicPr>
          <p:cNvPr id="3" name="Image 0" descr="/home/user/the-neighbourhood-mobile/docs/pptx-assets/web1.jpg">    </p:cNvPr>
          <p:cNvPicPr>
            <a:picLocks noChangeAspect="1"/>
          </p:cNvPicPr>
          <p:nvPr/>
        </p:nvPicPr>
        <p:blipFill>
          <a:blip r:embed="rId1"/>
          <a:stretch>
            <a:fillRect/>
          </a:stretch>
        </p:blipFill>
        <p:spPr>
          <a:xfrm>
            <a:off x="639067" y="1554480"/>
            <a:ext cx="2558459" cy="1600200"/>
          </a:xfrm>
          <a:prstGeom prst="rect">
            <a:avLst/>
          </a:prstGeom>
        </p:spPr>
      </p:pic>
      <p:sp>
        <p:nvSpPr>
          <p:cNvPr id="4" name="Shape 1"/>
          <p:cNvSpPr/>
          <p:nvPr/>
        </p:nvSpPr>
        <p:spPr>
          <a:xfrm>
            <a:off x="639067" y="1554480"/>
            <a:ext cx="2558459" cy="1600200"/>
          </a:xfrm>
          <a:prstGeom prst="rect">
            <a:avLst/>
          </a:prstGeom>
          <a:ln w="9525">
            <a:solidFill>
              <a:srgbClr val="D9D2C4"/>
            </a:solidFill>
            <a:prstDash val="solid"/>
          </a:ln>
        </p:spPr>
      </p:sp>
      <p:sp>
        <p:nvSpPr>
          <p:cNvPr id="5" name="Text 2"/>
          <p:cNvSpPr/>
          <p:nvPr/>
        </p:nvSpPr>
        <p:spPr>
          <a:xfrm>
            <a:off x="640080" y="3227832"/>
            <a:ext cx="255643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12 JULY</a:t>
            </a:r>
            <a:endParaRPr lang="en-US" sz="850" dirty="0"/>
          </a:p>
        </p:txBody>
      </p:sp>
      <p:sp>
        <p:nvSpPr>
          <p:cNvPr id="6" name="Text 3"/>
          <p:cNvSpPr/>
          <p:nvPr/>
        </p:nvSpPr>
        <p:spPr>
          <a:xfrm>
            <a:off x="640080" y="3429000"/>
            <a:ext cx="2556434"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First version. Grey-brown, handprints, text on the left.</a:t>
            </a:r>
            <a:endParaRPr lang="en-US" sz="900" dirty="0"/>
          </a:p>
        </p:txBody>
      </p:sp>
      <p:pic>
        <p:nvPicPr>
          <p:cNvPr id="7" name="Image 1" descr="/home/user/the-neighbourhood-mobile/docs/pptx-assets/web2.jpg">    </p:cNvPr>
          <p:cNvPicPr>
            <a:picLocks noChangeAspect="1"/>
          </p:cNvPicPr>
          <p:nvPr/>
        </p:nvPicPr>
        <p:blipFill>
          <a:blip r:embed="rId2"/>
          <a:stretch>
            <a:fillRect/>
          </a:stretch>
        </p:blipFill>
        <p:spPr>
          <a:xfrm>
            <a:off x="3424101" y="1554480"/>
            <a:ext cx="2558459" cy="1600200"/>
          </a:xfrm>
          <a:prstGeom prst="rect">
            <a:avLst/>
          </a:prstGeom>
        </p:spPr>
      </p:pic>
      <p:sp>
        <p:nvSpPr>
          <p:cNvPr id="8" name="Shape 4"/>
          <p:cNvSpPr/>
          <p:nvPr/>
        </p:nvSpPr>
        <p:spPr>
          <a:xfrm>
            <a:off x="3424101" y="1554480"/>
            <a:ext cx="2558459" cy="1600200"/>
          </a:xfrm>
          <a:prstGeom prst="rect">
            <a:avLst/>
          </a:prstGeom>
          <a:ln w="9525">
            <a:solidFill>
              <a:srgbClr val="D9D2C4"/>
            </a:solidFill>
            <a:prstDash val="solid"/>
          </a:ln>
        </p:spPr>
      </p:sp>
      <p:sp>
        <p:nvSpPr>
          <p:cNvPr id="9" name="Text 5"/>
          <p:cNvSpPr/>
          <p:nvPr/>
        </p:nvSpPr>
        <p:spPr>
          <a:xfrm>
            <a:off x="3425114" y="3227832"/>
            <a:ext cx="255643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23 JULY</a:t>
            </a:r>
            <a:endParaRPr lang="en-US" sz="850" dirty="0"/>
          </a:p>
        </p:txBody>
      </p:sp>
      <p:sp>
        <p:nvSpPr>
          <p:cNvPr id="10" name="Text 6"/>
          <p:cNvSpPr/>
          <p:nvPr/>
        </p:nvSpPr>
        <p:spPr>
          <a:xfrm>
            <a:off x="3425114" y="3429000"/>
            <a:ext cx="2556434"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Rebuilt the layout. More space, softer shapes.</a:t>
            </a:r>
            <a:endParaRPr lang="en-US" sz="900" dirty="0"/>
          </a:p>
        </p:txBody>
      </p:sp>
      <p:pic>
        <p:nvPicPr>
          <p:cNvPr id="11" name="Image 2" descr="/home/user/the-neighbourhood-mobile/docs/pptx-assets/web3.jpg">    </p:cNvPr>
          <p:cNvPicPr>
            <a:picLocks noChangeAspect="1"/>
          </p:cNvPicPr>
          <p:nvPr/>
        </p:nvPicPr>
        <p:blipFill>
          <a:blip r:embed="rId3"/>
          <a:stretch>
            <a:fillRect/>
          </a:stretch>
        </p:blipFill>
        <p:spPr>
          <a:xfrm>
            <a:off x="6209135" y="1554480"/>
            <a:ext cx="2558459" cy="1600200"/>
          </a:xfrm>
          <a:prstGeom prst="rect">
            <a:avLst/>
          </a:prstGeom>
        </p:spPr>
      </p:pic>
      <p:sp>
        <p:nvSpPr>
          <p:cNvPr id="12" name="Shape 7"/>
          <p:cNvSpPr/>
          <p:nvPr/>
        </p:nvSpPr>
        <p:spPr>
          <a:xfrm>
            <a:off x="6209135" y="1554480"/>
            <a:ext cx="2558459" cy="1600200"/>
          </a:xfrm>
          <a:prstGeom prst="rect">
            <a:avLst/>
          </a:prstGeom>
          <a:ln w="9525">
            <a:solidFill>
              <a:srgbClr val="D9D2C4"/>
            </a:solidFill>
            <a:prstDash val="solid"/>
          </a:ln>
        </p:spPr>
      </p:sp>
      <p:sp>
        <p:nvSpPr>
          <p:cNvPr id="13" name="Text 8"/>
          <p:cNvSpPr/>
          <p:nvPr/>
        </p:nvSpPr>
        <p:spPr>
          <a:xfrm>
            <a:off x="6210148" y="3227832"/>
            <a:ext cx="255643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2 AUGUST</a:t>
            </a:r>
            <a:endParaRPr lang="en-US" sz="850" dirty="0"/>
          </a:p>
        </p:txBody>
      </p:sp>
      <p:sp>
        <p:nvSpPr>
          <p:cNvPr id="14" name="Text 9"/>
          <p:cNvSpPr/>
          <p:nvPr/>
        </p:nvSpPr>
        <p:spPr>
          <a:xfrm>
            <a:off x="6210148" y="3429000"/>
            <a:ext cx="2556434"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New colours. Cream and terracotta. Moved to the centre.</a:t>
            </a:r>
            <a:endParaRPr lang="en-US" sz="900" dirty="0"/>
          </a:p>
        </p:txBody>
      </p:sp>
      <p:pic>
        <p:nvPicPr>
          <p:cNvPr id="15" name="Image 3" descr="/home/user/the-neighbourhood-mobile/docs/pptx-assets/web4.jpg">    </p:cNvPr>
          <p:cNvPicPr>
            <a:picLocks noChangeAspect="1"/>
          </p:cNvPicPr>
          <p:nvPr/>
        </p:nvPicPr>
        <p:blipFill>
          <a:blip r:embed="rId4"/>
          <a:stretch>
            <a:fillRect/>
          </a:stretch>
        </p:blipFill>
        <p:spPr>
          <a:xfrm>
            <a:off x="8994169" y="1554480"/>
            <a:ext cx="2558459" cy="1600200"/>
          </a:xfrm>
          <a:prstGeom prst="rect">
            <a:avLst/>
          </a:prstGeom>
        </p:spPr>
      </p:pic>
      <p:sp>
        <p:nvSpPr>
          <p:cNvPr id="16" name="Shape 10"/>
          <p:cNvSpPr/>
          <p:nvPr/>
        </p:nvSpPr>
        <p:spPr>
          <a:xfrm>
            <a:off x="8994169" y="1554480"/>
            <a:ext cx="2558459" cy="1600200"/>
          </a:xfrm>
          <a:prstGeom prst="rect">
            <a:avLst/>
          </a:prstGeom>
          <a:ln w="9525">
            <a:solidFill>
              <a:srgbClr val="D9D2C4"/>
            </a:solidFill>
            <a:prstDash val="solid"/>
          </a:ln>
        </p:spPr>
      </p:sp>
      <p:sp>
        <p:nvSpPr>
          <p:cNvPr id="17" name="Text 11"/>
          <p:cNvSpPr/>
          <p:nvPr/>
        </p:nvSpPr>
        <p:spPr>
          <a:xfrm>
            <a:off x="8995181" y="3227832"/>
            <a:ext cx="255643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21 AUGUST</a:t>
            </a:r>
            <a:endParaRPr lang="en-US" sz="850" dirty="0"/>
          </a:p>
        </p:txBody>
      </p:sp>
      <p:sp>
        <p:nvSpPr>
          <p:cNvPr id="18" name="Text 12"/>
          <p:cNvSpPr/>
          <p:nvPr/>
        </p:nvSpPr>
        <p:spPr>
          <a:xfrm>
            <a:off x="8995181" y="3429000"/>
            <a:ext cx="2556434"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Live now. Serif headline, one word in orange.</a:t>
            </a:r>
            <a:endParaRPr lang="en-US" sz="900" dirty="0"/>
          </a:p>
        </p:txBody>
      </p:sp>
      <p:sp>
        <p:nvSpPr>
          <p:cNvPr id="19" name="Text 13"/>
          <p:cNvSpPr/>
          <p:nvPr/>
        </p:nvSpPr>
        <p:spPr>
          <a:xfrm>
            <a:off x="640080" y="5074920"/>
            <a:ext cx="9875520" cy="822960"/>
          </a:xfrm>
          <a:prstGeom prst="rect">
            <a:avLst/>
          </a:prstGeom>
          <a:noFill/>
          <a:ln/>
        </p:spPr>
        <p:txBody>
          <a:bodyPr wrap="square" lIns="0" tIns="0" rIns="0" bIns="0" rtlCol="0" anchor="ctr"/>
          <a:lstStyle/>
          <a:p>
            <a:pPr indent="0" marL="0">
              <a:lnSpc>
                <a:spcPct val="125000"/>
              </a:lnSpc>
              <a:buNone/>
            </a:pPr>
            <a:r>
              <a:rPr lang="en-US" sz="1250" dirty="0">
                <a:solidFill>
                  <a:srgbClr val="6A6157"/>
                </a:solidFill>
                <a:latin typeface="Calibri" pitchFamily="34" charset="0"/>
                <a:ea typeface="Calibri" pitchFamily="34" charset="-122"/>
                <a:cs typeface="Calibri" pitchFamily="34" charset="-120"/>
              </a:rPr>
              <a:t>Same sentence the whole way through. It took four goes to find the right way to say it. At one point I had four versions running at once, so I picked one and deleted the other three.</a:t>
            </a:r>
            <a:endParaRPr lang="en-US" sz="1250" dirty="0"/>
          </a:p>
        </p:txBody>
      </p:sp>
      <p:sp>
        <p:nvSpPr>
          <p:cNvPr id="20" name="Text 14"/>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502920"/>
            <a:ext cx="9601200" cy="1005840"/>
          </a:xfrm>
          <a:prstGeom prst="rect">
            <a:avLst/>
          </a:prstGeom>
          <a:noFill/>
          <a:ln/>
        </p:spPr>
        <p:txBody>
          <a:bodyPr wrap="square" lIns="0" tIns="0" rIns="0" bIns="0" rtlCol="0" anchor="ctr"/>
          <a:lstStyle/>
          <a:p>
            <a:pPr algn="l" indent="0" marL="0">
              <a:buNone/>
            </a:pPr>
            <a:r>
              <a:rPr lang="en-US" sz="3000" dirty="0">
                <a:solidFill>
                  <a:srgbClr val="2C2C2C"/>
                </a:solidFill>
                <a:latin typeface="Cambria" pitchFamily="34" charset="0"/>
                <a:ea typeface="Cambria" pitchFamily="34" charset="-122"/>
                <a:cs typeface="Cambria" pitchFamily="34" charset="-120"/>
              </a:rPr>
              <a:t>It only asks what applies to you</a:t>
            </a:r>
            <a:endParaRPr lang="en-US" sz="3000" dirty="0"/>
          </a:p>
        </p:txBody>
      </p:sp>
      <p:pic>
        <p:nvPicPr>
          <p:cNvPr id="3" name="Image 0" descr="/home/user/the-neighbourhood-mobile/docs/pptx-assets/app2.jpg">    </p:cNvPr>
          <p:cNvPicPr>
            <a:picLocks noChangeAspect="1"/>
          </p:cNvPicPr>
          <p:nvPr/>
        </p:nvPicPr>
        <p:blipFill>
          <a:blip r:embed="rId1"/>
          <a:stretch>
            <a:fillRect/>
          </a:stretch>
        </p:blipFill>
        <p:spPr>
          <a:xfrm>
            <a:off x="1852770" y="1417320"/>
            <a:ext cx="1077686" cy="1508760"/>
          </a:xfrm>
          <a:prstGeom prst="rect">
            <a:avLst/>
          </a:prstGeom>
        </p:spPr>
      </p:pic>
      <p:sp>
        <p:nvSpPr>
          <p:cNvPr id="4" name="Shape 1"/>
          <p:cNvSpPr/>
          <p:nvPr/>
        </p:nvSpPr>
        <p:spPr>
          <a:xfrm>
            <a:off x="1852770" y="1417320"/>
            <a:ext cx="1077686" cy="1508760"/>
          </a:xfrm>
          <a:prstGeom prst="rect">
            <a:avLst/>
          </a:prstGeom>
          <a:ln w="9525">
            <a:solidFill>
              <a:srgbClr val="D9D2C4"/>
            </a:solidFill>
            <a:prstDash val="solid"/>
          </a:ln>
        </p:spPr>
      </p:sp>
      <p:sp>
        <p:nvSpPr>
          <p:cNvPr id="5" name="Text 2"/>
          <p:cNvSpPr/>
          <p:nvPr/>
        </p:nvSpPr>
        <p:spPr>
          <a:xfrm>
            <a:off x="640080" y="299923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YOUR NAME</a:t>
            </a:r>
            <a:endParaRPr lang="en-US" sz="850" dirty="0"/>
          </a:p>
        </p:txBody>
      </p:sp>
      <p:sp>
        <p:nvSpPr>
          <p:cNvPr id="6" name="Text 3"/>
          <p:cNvSpPr/>
          <p:nvPr/>
        </p:nvSpPr>
        <p:spPr>
          <a:xfrm>
            <a:off x="640080" y="320040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The app talks to you by name after this.</a:t>
            </a:r>
            <a:endParaRPr lang="en-US" sz="900" dirty="0"/>
          </a:p>
        </p:txBody>
      </p:sp>
      <p:pic>
        <p:nvPicPr>
          <p:cNvPr id="7" name="Image 1" descr="/home/user/the-neighbourhood-mobile/docs/pptx-assets/app5.jpg">    </p:cNvPr>
          <p:cNvPicPr>
            <a:picLocks noChangeAspect="1"/>
          </p:cNvPicPr>
          <p:nvPr/>
        </p:nvPicPr>
        <p:blipFill>
          <a:blip r:embed="rId2"/>
          <a:stretch>
            <a:fillRect/>
          </a:stretch>
        </p:blipFill>
        <p:spPr>
          <a:xfrm>
            <a:off x="5557005" y="1417320"/>
            <a:ext cx="1077686" cy="1508760"/>
          </a:xfrm>
          <a:prstGeom prst="rect">
            <a:avLst/>
          </a:prstGeom>
        </p:spPr>
      </p:pic>
      <p:sp>
        <p:nvSpPr>
          <p:cNvPr id="8" name="Shape 4"/>
          <p:cNvSpPr/>
          <p:nvPr/>
        </p:nvSpPr>
        <p:spPr>
          <a:xfrm>
            <a:off x="5557005" y="1417320"/>
            <a:ext cx="1077686" cy="1508760"/>
          </a:xfrm>
          <a:prstGeom prst="rect">
            <a:avLst/>
          </a:prstGeom>
          <a:ln w="9525">
            <a:solidFill>
              <a:srgbClr val="D9D2C4"/>
            </a:solidFill>
            <a:prstDash val="solid"/>
          </a:ln>
        </p:spPr>
      </p:sp>
      <p:sp>
        <p:nvSpPr>
          <p:cNvPr id="9" name="Text 5"/>
          <p:cNvSpPr/>
          <p:nvPr/>
        </p:nvSpPr>
        <p:spPr>
          <a:xfrm>
            <a:off x="4344314" y="299923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WHO YOU ARE</a:t>
            </a:r>
            <a:endParaRPr lang="en-US" sz="850" dirty="0"/>
          </a:p>
        </p:txBody>
      </p:sp>
      <p:sp>
        <p:nvSpPr>
          <p:cNvPr id="10" name="Text 6"/>
          <p:cNvSpPr/>
          <p:nvPr/>
        </p:nvSpPr>
        <p:spPr>
          <a:xfrm>
            <a:off x="4344314" y="320040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Decides which questions you see next, and skips the ones that don't apply.</a:t>
            </a:r>
            <a:endParaRPr lang="en-US" sz="900" dirty="0"/>
          </a:p>
        </p:txBody>
      </p:sp>
      <p:pic>
        <p:nvPicPr>
          <p:cNvPr id="11" name="Image 2" descr="/home/user/the-neighbourhood-mobile/docs/pptx-assets/app3.jpg">    </p:cNvPr>
          <p:cNvPicPr>
            <a:picLocks noChangeAspect="1"/>
          </p:cNvPicPr>
          <p:nvPr/>
        </p:nvPicPr>
        <p:blipFill>
          <a:blip r:embed="rId3"/>
          <a:stretch>
            <a:fillRect/>
          </a:stretch>
        </p:blipFill>
        <p:spPr>
          <a:xfrm>
            <a:off x="9261239" y="1417320"/>
            <a:ext cx="1077686" cy="1508760"/>
          </a:xfrm>
          <a:prstGeom prst="rect">
            <a:avLst/>
          </a:prstGeom>
        </p:spPr>
      </p:pic>
      <p:sp>
        <p:nvSpPr>
          <p:cNvPr id="12" name="Shape 7"/>
          <p:cNvSpPr/>
          <p:nvPr/>
        </p:nvSpPr>
        <p:spPr>
          <a:xfrm>
            <a:off x="9261239" y="1417320"/>
            <a:ext cx="1077686" cy="1508760"/>
          </a:xfrm>
          <a:prstGeom prst="rect">
            <a:avLst/>
          </a:prstGeom>
          <a:ln w="9525">
            <a:solidFill>
              <a:srgbClr val="D9D2C4"/>
            </a:solidFill>
            <a:prstDash val="solid"/>
          </a:ln>
        </p:spPr>
      </p:sp>
      <p:sp>
        <p:nvSpPr>
          <p:cNvPr id="13" name="Text 8"/>
          <p:cNvSpPr/>
          <p:nvPr/>
        </p:nvSpPr>
        <p:spPr>
          <a:xfrm>
            <a:off x="8048549" y="299923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BIRTHDAY</a:t>
            </a:r>
            <a:endParaRPr lang="en-US" sz="850" dirty="0"/>
          </a:p>
        </p:txBody>
      </p:sp>
      <p:sp>
        <p:nvSpPr>
          <p:cNvPr id="14" name="Text 9"/>
          <p:cNvSpPr/>
          <p:nvPr/>
        </p:nvSpPr>
        <p:spPr>
          <a:xfrm>
            <a:off x="8048549" y="320040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The most important one. Everything is worked out from this.</a:t>
            </a:r>
            <a:endParaRPr lang="en-US" sz="900" dirty="0"/>
          </a:p>
        </p:txBody>
      </p:sp>
      <p:pic>
        <p:nvPicPr>
          <p:cNvPr id="15" name="Image 3" descr="/home/user/the-neighbourhood-mobile/docs/pptx-assets/app6.jpg">    </p:cNvPr>
          <p:cNvPicPr>
            <a:picLocks noChangeAspect="1"/>
          </p:cNvPicPr>
          <p:nvPr/>
        </p:nvPicPr>
        <p:blipFill>
          <a:blip r:embed="rId4"/>
          <a:stretch>
            <a:fillRect/>
          </a:stretch>
        </p:blipFill>
        <p:spPr>
          <a:xfrm>
            <a:off x="1852770" y="3840480"/>
            <a:ext cx="1077686" cy="1508760"/>
          </a:xfrm>
          <a:prstGeom prst="rect">
            <a:avLst/>
          </a:prstGeom>
        </p:spPr>
      </p:pic>
      <p:sp>
        <p:nvSpPr>
          <p:cNvPr id="16" name="Shape 10"/>
          <p:cNvSpPr/>
          <p:nvPr/>
        </p:nvSpPr>
        <p:spPr>
          <a:xfrm>
            <a:off x="1852770" y="3840480"/>
            <a:ext cx="1077686" cy="1508760"/>
          </a:xfrm>
          <a:prstGeom prst="rect">
            <a:avLst/>
          </a:prstGeom>
          <a:ln w="9525">
            <a:solidFill>
              <a:srgbClr val="D9D2C4"/>
            </a:solidFill>
            <a:prstDash val="solid"/>
          </a:ln>
        </p:spPr>
      </p:sp>
      <p:sp>
        <p:nvSpPr>
          <p:cNvPr id="17" name="Text 11"/>
          <p:cNvSpPr/>
          <p:nvPr/>
        </p:nvSpPr>
        <p:spPr>
          <a:xfrm>
            <a:off x="640080" y="542239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BIRTH TYPE</a:t>
            </a:r>
            <a:endParaRPr lang="en-US" sz="850" dirty="0"/>
          </a:p>
        </p:txBody>
      </p:sp>
      <p:sp>
        <p:nvSpPr>
          <p:cNvPr id="18" name="Text 12"/>
          <p:cNvSpPr/>
          <p:nvPr/>
        </p:nvSpPr>
        <p:spPr>
          <a:xfrm>
            <a:off x="640080" y="562356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Only for mothers. A father never sees this screen.</a:t>
            </a:r>
            <a:endParaRPr lang="en-US" sz="900" dirty="0"/>
          </a:p>
        </p:txBody>
      </p:sp>
      <p:pic>
        <p:nvPicPr>
          <p:cNvPr id="19" name="Image 4" descr="/home/user/the-neighbourhood-mobile/docs/pptx-assets/app7.jpg">    </p:cNvPr>
          <p:cNvPicPr>
            <a:picLocks noChangeAspect="1"/>
          </p:cNvPicPr>
          <p:nvPr/>
        </p:nvPicPr>
        <p:blipFill>
          <a:blip r:embed="rId5"/>
          <a:stretch>
            <a:fillRect/>
          </a:stretch>
        </p:blipFill>
        <p:spPr>
          <a:xfrm>
            <a:off x="5557005" y="3840480"/>
            <a:ext cx="1077686" cy="1508760"/>
          </a:xfrm>
          <a:prstGeom prst="rect">
            <a:avLst/>
          </a:prstGeom>
        </p:spPr>
      </p:pic>
      <p:sp>
        <p:nvSpPr>
          <p:cNvPr id="20" name="Shape 13"/>
          <p:cNvSpPr/>
          <p:nvPr/>
        </p:nvSpPr>
        <p:spPr>
          <a:xfrm>
            <a:off x="5557005" y="3840480"/>
            <a:ext cx="1077686" cy="1508760"/>
          </a:xfrm>
          <a:prstGeom prst="rect">
            <a:avLst/>
          </a:prstGeom>
          <a:ln w="9525">
            <a:solidFill>
              <a:srgbClr val="D9D2C4"/>
            </a:solidFill>
            <a:prstDash val="solid"/>
          </a:ln>
        </p:spPr>
      </p:sp>
      <p:sp>
        <p:nvSpPr>
          <p:cNvPr id="21" name="Text 14"/>
          <p:cNvSpPr/>
          <p:nvPr/>
        </p:nvSpPr>
        <p:spPr>
          <a:xfrm>
            <a:off x="4344314" y="542239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FEEDING</a:t>
            </a:r>
            <a:endParaRPr lang="en-US" sz="850" dirty="0"/>
          </a:p>
        </p:txBody>
      </p:sp>
      <p:sp>
        <p:nvSpPr>
          <p:cNvPr id="22" name="Text 15"/>
          <p:cNvSpPr/>
          <p:nvPr/>
        </p:nvSpPr>
        <p:spPr>
          <a:xfrm>
            <a:off x="4344314" y="562356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Only in the first year. Skipped once it stops being relevant.</a:t>
            </a:r>
            <a:endParaRPr lang="en-US" sz="900" dirty="0"/>
          </a:p>
        </p:txBody>
      </p:sp>
      <p:pic>
        <p:nvPicPr>
          <p:cNvPr id="23" name="Image 5" descr="/home/user/the-neighbourhood-mobile/docs/pptx-assets/app4.jpg">    </p:cNvPr>
          <p:cNvPicPr>
            <a:picLocks noChangeAspect="1"/>
          </p:cNvPicPr>
          <p:nvPr/>
        </p:nvPicPr>
        <p:blipFill>
          <a:blip r:embed="rId6"/>
          <a:stretch>
            <a:fillRect/>
          </a:stretch>
        </p:blipFill>
        <p:spPr>
          <a:xfrm>
            <a:off x="9261239" y="3840480"/>
            <a:ext cx="1077686" cy="1508760"/>
          </a:xfrm>
          <a:prstGeom prst="rect">
            <a:avLst/>
          </a:prstGeom>
        </p:spPr>
      </p:pic>
      <p:sp>
        <p:nvSpPr>
          <p:cNvPr id="24" name="Shape 16"/>
          <p:cNvSpPr/>
          <p:nvPr/>
        </p:nvSpPr>
        <p:spPr>
          <a:xfrm>
            <a:off x="9261239" y="3840480"/>
            <a:ext cx="1077686" cy="1508760"/>
          </a:xfrm>
          <a:prstGeom prst="rect">
            <a:avLst/>
          </a:prstGeom>
          <a:ln w="9525">
            <a:solidFill>
              <a:srgbClr val="D9D2C4"/>
            </a:solidFill>
            <a:prstDash val="solid"/>
          </a:ln>
        </p:spPr>
      </p:sp>
      <p:sp>
        <p:nvSpPr>
          <p:cNvPr id="25" name="Text 17"/>
          <p:cNvSpPr/>
          <p:nvPr/>
        </p:nvSpPr>
        <p:spPr>
          <a:xfrm>
            <a:off x="8048549" y="5422392"/>
            <a:ext cx="3503066"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GENDER</a:t>
            </a:r>
            <a:endParaRPr lang="en-US" sz="850" dirty="0"/>
          </a:p>
        </p:txBody>
      </p:sp>
      <p:sp>
        <p:nvSpPr>
          <p:cNvPr id="26" name="Text 18"/>
          <p:cNvSpPr/>
          <p:nvPr/>
        </p:nvSpPr>
        <p:spPr>
          <a:xfrm>
            <a:off x="8048549" y="5623560"/>
            <a:ext cx="3503066" cy="50292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Three options. One of them is prefer not to say.</a:t>
            </a:r>
            <a:endParaRPr lang="en-US" sz="900" dirty="0"/>
          </a:p>
        </p:txBody>
      </p:sp>
      <p:sp>
        <p:nvSpPr>
          <p:cNvPr id="27" name="Text 19"/>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algn="l" indent="0" marL="0">
              <a:buNone/>
            </a:pPr>
            <a:r>
              <a:rPr lang="en-US" sz="1100" b="1" spc="200" kern="0" dirty="0">
                <a:solidFill>
                  <a:srgbClr val="89745B"/>
                </a:solidFill>
                <a:latin typeface="Calibri" pitchFamily="34" charset="0"/>
                <a:ea typeface="Calibri" pitchFamily="34" charset="-122"/>
                <a:cs typeface="Calibri" pitchFamily="34" charset="-120"/>
              </a:rPr>
              <a:t>THE APP, SIGNED IN</a:t>
            </a:r>
            <a:endParaRPr lang="en-US" sz="1100" dirty="0"/>
          </a:p>
        </p:txBody>
      </p:sp>
      <p:sp>
        <p:nvSpPr>
          <p:cNvPr id="3" name="Text 1"/>
          <p:cNvSpPr/>
          <p:nvPr/>
        </p:nvSpPr>
        <p:spPr>
          <a:xfrm>
            <a:off x="640080" y="777240"/>
            <a:ext cx="9601200" cy="1005840"/>
          </a:xfrm>
          <a:prstGeom prst="rect">
            <a:avLst/>
          </a:prstGeom>
          <a:noFill/>
          <a:ln/>
        </p:spPr>
        <p:txBody>
          <a:bodyPr wrap="square" lIns="0" tIns="0" rIns="0" bIns="0" rtlCol="0" anchor="ctr"/>
          <a:lstStyle/>
          <a:p>
            <a:pPr algn="l" indent="0" marL="0">
              <a:buNone/>
            </a:pPr>
            <a:r>
              <a:rPr lang="en-US" sz="3200" dirty="0">
                <a:solidFill>
                  <a:srgbClr val="2C2C2C"/>
                </a:solidFill>
                <a:latin typeface="Cambria" pitchFamily="34" charset="0"/>
                <a:ea typeface="Cambria" pitchFamily="34" charset="-122"/>
                <a:cs typeface="Cambria" pitchFamily="34" charset="-120"/>
              </a:rPr>
              <a:t>Then it gets to work</a:t>
            </a:r>
            <a:endParaRPr lang="en-US" sz="3200" dirty="0"/>
          </a:p>
        </p:txBody>
      </p:sp>
      <p:pic>
        <p:nvPicPr>
          <p:cNvPr id="4" name="Image 0" descr="/home/user/the-neighbourhood-mobile/docs/pptx-assets/live1.jpg">    </p:cNvPr>
          <p:cNvPicPr>
            <a:picLocks noChangeAspect="1"/>
          </p:cNvPicPr>
          <p:nvPr/>
        </p:nvPicPr>
        <p:blipFill>
          <a:blip r:embed="rId1"/>
          <a:stretch>
            <a:fillRect/>
          </a:stretch>
        </p:blipFill>
        <p:spPr>
          <a:xfrm>
            <a:off x="1269780" y="1737360"/>
            <a:ext cx="1262743" cy="2651760"/>
          </a:xfrm>
          <a:prstGeom prst="rect">
            <a:avLst/>
          </a:prstGeom>
        </p:spPr>
      </p:pic>
      <p:sp>
        <p:nvSpPr>
          <p:cNvPr id="5" name="Shape 2"/>
          <p:cNvSpPr/>
          <p:nvPr/>
        </p:nvSpPr>
        <p:spPr>
          <a:xfrm>
            <a:off x="1269780" y="1737360"/>
            <a:ext cx="1262743" cy="2651760"/>
          </a:xfrm>
          <a:prstGeom prst="rect">
            <a:avLst/>
          </a:prstGeom>
          <a:ln w="9525">
            <a:solidFill>
              <a:srgbClr val="D9D2C4"/>
            </a:solidFill>
            <a:prstDash val="solid"/>
          </a:ln>
        </p:spPr>
      </p:sp>
      <p:sp>
        <p:nvSpPr>
          <p:cNvPr id="6" name="Text 3"/>
          <p:cNvSpPr/>
          <p:nvPr/>
        </p:nvSpPr>
        <p:spPr>
          <a:xfrm>
            <a:off x="640080" y="4462272"/>
            <a:ext cx="252214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HOME</a:t>
            </a:r>
            <a:endParaRPr lang="en-US" sz="850" dirty="0"/>
          </a:p>
        </p:txBody>
      </p:sp>
      <p:sp>
        <p:nvSpPr>
          <p:cNvPr id="7" name="Text 4"/>
          <p:cNvSpPr/>
          <p:nvPr/>
        </p:nvSpPr>
        <p:spPr>
          <a:xfrm>
            <a:off x="640080" y="4663440"/>
            <a:ext cx="2522144" cy="45720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Today's four things, one per domain.</a:t>
            </a:r>
            <a:endParaRPr lang="en-US" sz="900" dirty="0"/>
          </a:p>
        </p:txBody>
      </p:sp>
      <p:pic>
        <p:nvPicPr>
          <p:cNvPr id="8" name="Image 1" descr="/home/user/the-neighbourhood-mobile/docs/pptx-assets/live2.jpg">    </p:cNvPr>
          <p:cNvPicPr>
            <a:picLocks noChangeAspect="1"/>
          </p:cNvPicPr>
          <p:nvPr/>
        </p:nvPicPr>
        <p:blipFill>
          <a:blip r:embed="rId2"/>
          <a:stretch>
            <a:fillRect/>
          </a:stretch>
        </p:blipFill>
        <p:spPr>
          <a:xfrm>
            <a:off x="4066244" y="1737360"/>
            <a:ext cx="1262743" cy="2651760"/>
          </a:xfrm>
          <a:prstGeom prst="rect">
            <a:avLst/>
          </a:prstGeom>
        </p:spPr>
      </p:pic>
      <p:sp>
        <p:nvSpPr>
          <p:cNvPr id="9" name="Shape 5"/>
          <p:cNvSpPr/>
          <p:nvPr/>
        </p:nvSpPr>
        <p:spPr>
          <a:xfrm>
            <a:off x="4066244" y="1737360"/>
            <a:ext cx="1262743" cy="2651760"/>
          </a:xfrm>
          <a:prstGeom prst="rect">
            <a:avLst/>
          </a:prstGeom>
          <a:ln w="9525">
            <a:solidFill>
              <a:srgbClr val="D9D2C4"/>
            </a:solidFill>
            <a:prstDash val="solid"/>
          </a:ln>
        </p:spPr>
      </p:sp>
      <p:sp>
        <p:nvSpPr>
          <p:cNvPr id="10" name="Text 6"/>
          <p:cNvSpPr/>
          <p:nvPr/>
        </p:nvSpPr>
        <p:spPr>
          <a:xfrm>
            <a:off x="3436544" y="4462272"/>
            <a:ext cx="252214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CHILD</a:t>
            </a:r>
            <a:endParaRPr lang="en-US" sz="850" dirty="0"/>
          </a:p>
        </p:txBody>
      </p:sp>
      <p:sp>
        <p:nvSpPr>
          <p:cNvPr id="11" name="Text 7"/>
          <p:cNvSpPr/>
          <p:nvPr/>
        </p:nvSpPr>
        <p:spPr>
          <a:xfrm>
            <a:off x="3436544" y="4663440"/>
            <a:ext cx="2522144" cy="45720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Today's progress, plus discoveries and vaccinations.</a:t>
            </a:r>
            <a:endParaRPr lang="en-US" sz="900" dirty="0"/>
          </a:p>
        </p:txBody>
      </p:sp>
      <p:pic>
        <p:nvPicPr>
          <p:cNvPr id="12" name="Image 2" descr="/home/user/the-neighbourhood-mobile/docs/pptx-assets/live3.jpg">    </p:cNvPr>
          <p:cNvPicPr>
            <a:picLocks noChangeAspect="1"/>
          </p:cNvPicPr>
          <p:nvPr/>
        </p:nvPicPr>
        <p:blipFill>
          <a:blip r:embed="rId3"/>
          <a:stretch>
            <a:fillRect/>
          </a:stretch>
        </p:blipFill>
        <p:spPr>
          <a:xfrm>
            <a:off x="6862708" y="1737360"/>
            <a:ext cx="1262743" cy="2651760"/>
          </a:xfrm>
          <a:prstGeom prst="rect">
            <a:avLst/>
          </a:prstGeom>
        </p:spPr>
      </p:pic>
      <p:sp>
        <p:nvSpPr>
          <p:cNvPr id="13" name="Shape 8"/>
          <p:cNvSpPr/>
          <p:nvPr/>
        </p:nvSpPr>
        <p:spPr>
          <a:xfrm>
            <a:off x="6862708" y="1737360"/>
            <a:ext cx="1262743" cy="2651760"/>
          </a:xfrm>
          <a:prstGeom prst="rect">
            <a:avLst/>
          </a:prstGeom>
          <a:ln w="9525">
            <a:solidFill>
              <a:srgbClr val="D9D2C4"/>
            </a:solidFill>
            <a:prstDash val="solid"/>
          </a:ln>
        </p:spPr>
      </p:sp>
      <p:sp>
        <p:nvSpPr>
          <p:cNvPr id="14" name="Text 9"/>
          <p:cNvSpPr/>
          <p:nvPr/>
        </p:nvSpPr>
        <p:spPr>
          <a:xfrm>
            <a:off x="6233008" y="4462272"/>
            <a:ext cx="252214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YOU</a:t>
            </a:r>
            <a:endParaRPr lang="en-US" sz="850" dirty="0"/>
          </a:p>
        </p:txBody>
      </p:sp>
      <p:sp>
        <p:nvSpPr>
          <p:cNvPr id="15" name="Text 10"/>
          <p:cNvSpPr/>
          <p:nvPr/>
        </p:nvSpPr>
        <p:spPr>
          <a:xfrm>
            <a:off x="6233008" y="4663440"/>
            <a:ext cx="2522144" cy="45720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The parent's own side. Cooler colours, on purpose.</a:t>
            </a:r>
            <a:endParaRPr lang="en-US" sz="900" dirty="0"/>
          </a:p>
        </p:txBody>
      </p:sp>
      <p:pic>
        <p:nvPicPr>
          <p:cNvPr id="16" name="Image 3" descr="/home/user/the-neighbourhood-mobile/docs/pptx-assets/live4.jpg">    </p:cNvPr>
          <p:cNvPicPr>
            <a:picLocks noChangeAspect="1"/>
          </p:cNvPicPr>
          <p:nvPr/>
        </p:nvPicPr>
        <p:blipFill>
          <a:blip r:embed="rId4"/>
          <a:stretch>
            <a:fillRect/>
          </a:stretch>
        </p:blipFill>
        <p:spPr>
          <a:xfrm>
            <a:off x="9659172" y="1737360"/>
            <a:ext cx="1262743" cy="2651760"/>
          </a:xfrm>
          <a:prstGeom prst="rect">
            <a:avLst/>
          </a:prstGeom>
        </p:spPr>
      </p:pic>
      <p:sp>
        <p:nvSpPr>
          <p:cNvPr id="17" name="Shape 11"/>
          <p:cNvSpPr/>
          <p:nvPr/>
        </p:nvSpPr>
        <p:spPr>
          <a:xfrm>
            <a:off x="9659172" y="1737360"/>
            <a:ext cx="1262743" cy="2651760"/>
          </a:xfrm>
          <a:prstGeom prst="rect">
            <a:avLst/>
          </a:prstGeom>
          <a:ln w="9525">
            <a:solidFill>
              <a:srgbClr val="D9D2C4"/>
            </a:solidFill>
            <a:prstDash val="solid"/>
          </a:ln>
        </p:spPr>
      </p:sp>
      <p:sp>
        <p:nvSpPr>
          <p:cNvPr id="18" name="Text 12"/>
          <p:cNvSpPr/>
          <p:nvPr/>
        </p:nvSpPr>
        <p:spPr>
          <a:xfrm>
            <a:off x="9029471" y="4462272"/>
            <a:ext cx="2522144" cy="201168"/>
          </a:xfrm>
          <a:prstGeom prst="rect">
            <a:avLst/>
          </a:prstGeom>
          <a:noFill/>
          <a:ln/>
        </p:spPr>
        <p:txBody>
          <a:bodyPr wrap="square" lIns="0" tIns="0" rIns="0" bIns="0" rtlCol="0" anchor="ctr"/>
          <a:lstStyle/>
          <a:p>
            <a:pPr indent="0" marL="0">
              <a:buNone/>
            </a:pPr>
            <a:r>
              <a:rPr lang="en-US" sz="850" b="1" spc="100" kern="0" dirty="0">
                <a:solidFill>
                  <a:srgbClr val="89745B"/>
                </a:solidFill>
                <a:latin typeface="Calibri" pitchFamily="34" charset="0"/>
                <a:ea typeface="Calibri" pitchFamily="34" charset="-122"/>
                <a:cs typeface="Calibri" pitchFamily="34" charset="-120"/>
              </a:rPr>
              <a:t>ASK</a:t>
            </a:r>
            <a:endParaRPr lang="en-US" sz="850" dirty="0"/>
          </a:p>
        </p:txBody>
      </p:sp>
      <p:sp>
        <p:nvSpPr>
          <p:cNvPr id="19" name="Text 13"/>
          <p:cNvSpPr/>
          <p:nvPr/>
        </p:nvSpPr>
        <p:spPr>
          <a:xfrm>
            <a:off x="9029471" y="4663440"/>
            <a:ext cx="2522144" cy="457200"/>
          </a:xfrm>
          <a:prstGeom prst="rect">
            <a:avLst/>
          </a:prstGeom>
          <a:noFill/>
          <a:ln/>
        </p:spPr>
        <p:txBody>
          <a:bodyPr wrap="square" lIns="0" tIns="0" rIns="0" bIns="0" rtlCol="0" anchor="t"/>
          <a:lstStyle/>
          <a:p>
            <a:pPr indent="0" marL="0">
              <a:lnSpc>
                <a:spcPct val="112000"/>
              </a:lnSpc>
              <a:buNone/>
            </a:pPr>
            <a:r>
              <a:rPr lang="en-US" sz="900" dirty="0">
                <a:solidFill>
                  <a:srgbClr val="6A6157"/>
                </a:solidFill>
                <a:latin typeface="Calibri" pitchFamily="34" charset="0"/>
                <a:ea typeface="Calibri" pitchFamily="34" charset="-122"/>
                <a:cs typeface="Calibri" pitchFamily="34" charset="-120"/>
              </a:rPr>
              <a:t>Questions, answered.</a:t>
            </a:r>
            <a:endParaRPr lang="en-US" sz="900" dirty="0"/>
          </a:p>
        </p:txBody>
      </p:sp>
      <p:sp>
        <p:nvSpPr>
          <p:cNvPr id="20" name="Text 14"/>
          <p:cNvSpPr/>
          <p:nvPr/>
        </p:nvSpPr>
        <p:spPr>
          <a:xfrm>
            <a:off x="640080" y="5349240"/>
            <a:ext cx="10241280" cy="731520"/>
          </a:xfrm>
          <a:prstGeom prst="rect">
            <a:avLst/>
          </a:prstGeom>
          <a:noFill/>
          <a:ln/>
        </p:spPr>
        <p:txBody>
          <a:bodyPr wrap="square" lIns="0" tIns="0" rIns="0" bIns="0" rtlCol="0" anchor="ctr"/>
          <a:lstStyle/>
          <a:p>
            <a:pPr indent="0" marL="0">
              <a:lnSpc>
                <a:spcPct val="122000"/>
              </a:lnSpc>
              <a:buNone/>
            </a:pPr>
            <a:r>
              <a:rPr lang="en-US" sz="1250" dirty="0">
                <a:solidFill>
                  <a:srgbClr val="6A6157"/>
                </a:solidFill>
                <a:latin typeface="Calibri" pitchFamily="34" charset="0"/>
                <a:ea typeface="Calibri" pitchFamily="34" charset="-122"/>
                <a:cs typeface="Calibri" pitchFamily="34" charset="-120"/>
              </a:rPr>
              <a:t>The bit I'm most proud of is You. Every other parenting app is about the child only. But the parent is recovering too, and nobody asks how they are. So they get their own half of the app.</a:t>
            </a:r>
            <a:endParaRPr lang="en-US" sz="1250" dirty="0"/>
          </a:p>
        </p:txBody>
      </p:sp>
      <p:sp>
        <p:nvSpPr>
          <p:cNvPr id="21" name="Text 15"/>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lIns="0" tIns="0" rIns="0" bIns="0" rtlCol="0" anchor="ctr"/>
          <a:lstStyle/>
          <a:p>
            <a:pPr algn="l" indent="0" marL="0">
              <a:buNone/>
            </a:pPr>
            <a:r>
              <a:rPr lang="en-US" sz="1100" b="1" spc="200" kern="0" dirty="0">
                <a:solidFill>
                  <a:srgbClr val="89745B"/>
                </a:solidFill>
                <a:latin typeface="Calibri" pitchFamily="34" charset="0"/>
                <a:ea typeface="Calibri" pitchFamily="34" charset="-122"/>
                <a:cs typeface="Calibri" pitchFamily="34" charset="-120"/>
              </a:rPr>
              <a:t>HOW WE DECIDED WHAT TO BUILD</a:t>
            </a:r>
            <a:endParaRPr lang="en-US" sz="1100" dirty="0"/>
          </a:p>
        </p:txBody>
      </p:sp>
      <p:sp>
        <p:nvSpPr>
          <p:cNvPr id="3" name="Text 1"/>
          <p:cNvSpPr/>
          <p:nvPr/>
        </p:nvSpPr>
        <p:spPr>
          <a:xfrm>
            <a:off x="640080" y="777240"/>
            <a:ext cx="9601200" cy="1005840"/>
          </a:xfrm>
          <a:prstGeom prst="rect">
            <a:avLst/>
          </a:prstGeom>
          <a:noFill/>
          <a:ln/>
        </p:spPr>
        <p:txBody>
          <a:bodyPr wrap="square" lIns="0" tIns="0" rIns="0" bIns="0" rtlCol="0" anchor="ctr"/>
          <a:lstStyle/>
          <a:p>
            <a:pPr algn="l" indent="0" marL="0">
              <a:buNone/>
            </a:pPr>
            <a:r>
              <a:rPr lang="en-US" sz="3400" dirty="0">
                <a:solidFill>
                  <a:srgbClr val="2C2C2C"/>
                </a:solidFill>
                <a:latin typeface="Cambria" pitchFamily="34" charset="0"/>
                <a:ea typeface="Cambria" pitchFamily="34" charset="-122"/>
                <a:cs typeface="Cambria" pitchFamily="34" charset="-120"/>
              </a:rPr>
              <a:t>Six decisions behind it</a:t>
            </a:r>
            <a:endParaRPr lang="en-US" sz="3400" dirty="0"/>
          </a:p>
        </p:txBody>
      </p:sp>
      <p:sp>
        <p:nvSpPr>
          <p:cNvPr id="4" name="Shape 2"/>
          <p:cNvSpPr/>
          <p:nvPr/>
        </p:nvSpPr>
        <p:spPr>
          <a:xfrm>
            <a:off x="640080" y="1874520"/>
            <a:ext cx="3529584" cy="184708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5" name="Text 3"/>
          <p:cNvSpPr/>
          <p:nvPr/>
        </p:nvSpPr>
        <p:spPr>
          <a:xfrm>
            <a:off x="804672"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Fewer questions</a:t>
            </a:r>
            <a:endParaRPr lang="en-US" sz="1350" dirty="0"/>
          </a:p>
        </p:txBody>
      </p:sp>
      <p:sp>
        <p:nvSpPr>
          <p:cNvPr id="6" name="Text 4"/>
          <p:cNvSpPr/>
          <p:nvPr/>
        </p:nvSpPr>
        <p:spPr>
          <a:xfrm>
            <a:off x="804672" y="2331720"/>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Onboarding only asks what actually changes something later. Nothing collected just in case.</a:t>
            </a:r>
            <a:endParaRPr lang="en-US" sz="1050" dirty="0"/>
          </a:p>
        </p:txBody>
      </p:sp>
      <p:sp>
        <p:nvSpPr>
          <p:cNvPr id="7" name="Shape 5"/>
          <p:cNvSpPr/>
          <p:nvPr/>
        </p:nvSpPr>
        <p:spPr>
          <a:xfrm>
            <a:off x="4315968" y="1874520"/>
            <a:ext cx="3529584" cy="184708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8" name="Text 6"/>
          <p:cNvSpPr/>
          <p:nvPr/>
        </p:nvSpPr>
        <p:spPr>
          <a:xfrm>
            <a:off x="4480560"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Only what gets used</a:t>
            </a:r>
            <a:endParaRPr lang="en-US" sz="1350" dirty="0"/>
          </a:p>
        </p:txBody>
      </p:sp>
      <p:sp>
        <p:nvSpPr>
          <p:cNvPr id="9" name="Text 7"/>
          <p:cNvSpPr/>
          <p:nvPr/>
        </p:nvSpPr>
        <p:spPr>
          <a:xfrm>
            <a:off x="4480560" y="2331720"/>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Today shows four activities, not the whole library. A daily habit needs a short list, not a browse.</a:t>
            </a:r>
            <a:endParaRPr lang="en-US" sz="1050" dirty="0"/>
          </a:p>
        </p:txBody>
      </p:sp>
      <p:sp>
        <p:nvSpPr>
          <p:cNvPr id="10" name="Shape 8"/>
          <p:cNvSpPr/>
          <p:nvPr/>
        </p:nvSpPr>
        <p:spPr>
          <a:xfrm>
            <a:off x="7991856" y="1874520"/>
            <a:ext cx="3529584" cy="184708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11" name="Text 9"/>
          <p:cNvSpPr/>
          <p:nvPr/>
        </p:nvSpPr>
        <p:spPr>
          <a:xfrm>
            <a:off x="8156448" y="2002536"/>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Call people by name</a:t>
            </a:r>
            <a:endParaRPr lang="en-US" sz="1350" dirty="0"/>
          </a:p>
        </p:txBody>
      </p:sp>
      <p:sp>
        <p:nvSpPr>
          <p:cNvPr id="12" name="Text 10"/>
          <p:cNvSpPr/>
          <p:nvPr/>
        </p:nvSpPr>
        <p:spPr>
          <a:xfrm>
            <a:off x="8156448" y="2331720"/>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The app says “Priya” and “Aanya,” not “you” and “your child.” It reads like a person, not a form.</a:t>
            </a:r>
            <a:endParaRPr lang="en-US" sz="1050" dirty="0"/>
          </a:p>
        </p:txBody>
      </p:sp>
      <p:sp>
        <p:nvSpPr>
          <p:cNvPr id="13" name="Shape 11"/>
          <p:cNvSpPr/>
          <p:nvPr/>
        </p:nvSpPr>
        <p:spPr>
          <a:xfrm>
            <a:off x="640080" y="3867912"/>
            <a:ext cx="3529584" cy="184708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14" name="Text 12"/>
          <p:cNvSpPr/>
          <p:nvPr/>
        </p:nvSpPr>
        <p:spPr>
          <a:xfrm>
            <a:off x="804672" y="3995928"/>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One thumb, one hand</a:t>
            </a:r>
            <a:endParaRPr lang="en-US" sz="1350" dirty="0"/>
          </a:p>
        </p:txBody>
      </p:sp>
      <p:sp>
        <p:nvSpPr>
          <p:cNvPr id="15" name="Text 13"/>
          <p:cNvSpPr/>
          <p:nvPr/>
        </p:nvSpPr>
        <p:spPr>
          <a:xfrm>
            <a:off x="804672" y="4325112"/>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Every screen has to work while holding a baby. Buttons sit low, and things you'd reach for are easy to find.</a:t>
            </a:r>
            <a:endParaRPr lang="en-US" sz="1050" dirty="0"/>
          </a:p>
        </p:txBody>
      </p:sp>
      <p:sp>
        <p:nvSpPr>
          <p:cNvPr id="16" name="Shape 14"/>
          <p:cNvSpPr/>
          <p:nvPr/>
        </p:nvSpPr>
        <p:spPr>
          <a:xfrm>
            <a:off x="4315968" y="3867912"/>
            <a:ext cx="3529584" cy="1847088"/>
          </a:xfrm>
          <a:prstGeom prst="rect">
            <a:avLst/>
          </a:prstGeom>
          <a:solidFill>
            <a:srgbClr val="FFFDFC"/>
          </a:solidFill>
          <a:ln w="19050">
            <a:solidFill>
              <a:srgbClr val="B4553F"/>
            </a:solidFill>
            <a:prstDash val="solid"/>
          </a:ln>
          <a:effectLst>
            <a:outerShdw sx="100000" sy="100000" kx="0" ky="0" algn="bl" rotWithShape="0" blurRad="76200" dist="25400" dir="5400000">
              <a:srgbClr val="4A3323">
                <a:alpha val="18000"/>
              </a:srgbClr>
            </a:outerShdw>
          </a:effectLst>
        </p:spPr>
      </p:sp>
      <p:sp>
        <p:nvSpPr>
          <p:cNvPr id="17" name="Text 15"/>
          <p:cNvSpPr/>
          <p:nvPr/>
        </p:nvSpPr>
        <p:spPr>
          <a:xfrm>
            <a:off x="4480560" y="3995928"/>
            <a:ext cx="3200400" cy="320040"/>
          </a:xfrm>
          <a:prstGeom prst="rect">
            <a:avLst/>
          </a:prstGeom>
          <a:noFill/>
          <a:ln/>
        </p:spPr>
        <p:txBody>
          <a:bodyPr wrap="square" lIns="0" tIns="0" rIns="0" bIns="0" rtlCol="0" anchor="ctr"/>
          <a:lstStyle/>
          <a:p>
            <a:pPr algn="l" indent="0" marL="0">
              <a:buNone/>
            </a:pPr>
            <a:r>
              <a:rPr lang="en-US" sz="1350" b="1" dirty="0">
                <a:solidFill>
                  <a:srgbClr val="89745B"/>
                </a:solidFill>
                <a:latin typeface="Calibri" pitchFamily="34" charset="0"/>
                <a:ea typeface="Calibri" pitchFamily="34" charset="-122"/>
                <a:cs typeface="Calibri" pitchFamily="34" charset="-120"/>
              </a:rPr>
              <a:t>Cut what only made sense to us</a:t>
            </a:r>
            <a:endParaRPr lang="en-US" sz="1350" dirty="0"/>
          </a:p>
        </p:txBody>
      </p:sp>
      <p:sp>
        <p:nvSpPr>
          <p:cNvPr id="18" name="Text 16"/>
          <p:cNvSpPr/>
          <p:nvPr/>
        </p:nvSpPr>
        <p:spPr>
          <a:xfrm>
            <a:off x="4480560" y="4325112"/>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We built a whole separate “Parent Mode,” switched from the top corner. Felt clever to build. Parents never found it. It's just a tab now.</a:t>
            </a:r>
            <a:endParaRPr lang="en-US" sz="1050" dirty="0"/>
          </a:p>
        </p:txBody>
      </p:sp>
      <p:sp>
        <p:nvSpPr>
          <p:cNvPr id="19" name="Shape 17"/>
          <p:cNvSpPr/>
          <p:nvPr/>
        </p:nvSpPr>
        <p:spPr>
          <a:xfrm>
            <a:off x="7991856" y="3867912"/>
            <a:ext cx="3529584" cy="1847088"/>
          </a:xfrm>
          <a:prstGeom prst="rect">
            <a:avLst/>
          </a:prstGeom>
          <a:solidFill>
            <a:srgbClr val="FFFDFC"/>
          </a:solidFill>
          <a:ln w="9525">
            <a:solidFill>
              <a:srgbClr val="D9D2C4"/>
            </a:solidFill>
            <a:prstDash val="solid"/>
          </a:ln>
          <a:effectLst>
            <a:outerShdw sx="100000" sy="100000" kx="0" ky="0" algn="bl" rotWithShape="0" blurRad="76200" dist="25400" dir="5400000">
              <a:srgbClr val="4A3323">
                <a:alpha val="18000"/>
              </a:srgbClr>
            </a:outerShdw>
          </a:effectLst>
        </p:spPr>
      </p:sp>
      <p:sp>
        <p:nvSpPr>
          <p:cNvPr id="20" name="Text 18"/>
          <p:cNvSpPr/>
          <p:nvPr/>
        </p:nvSpPr>
        <p:spPr>
          <a:xfrm>
            <a:off x="8156448" y="3995928"/>
            <a:ext cx="3200400" cy="320040"/>
          </a:xfrm>
          <a:prstGeom prst="rect">
            <a:avLst/>
          </a:prstGeom>
          <a:noFill/>
          <a:ln/>
        </p:spPr>
        <p:txBody>
          <a:bodyPr wrap="square" lIns="0" tIns="0" rIns="0" bIns="0" rtlCol="0" anchor="ctr"/>
          <a:lstStyle/>
          <a:p>
            <a:pPr algn="l" indent="0" marL="0">
              <a:buNone/>
            </a:pPr>
            <a:r>
              <a:rPr lang="en-US" sz="1350" b="1" dirty="0">
                <a:solidFill>
                  <a:srgbClr val="2C2C2C"/>
                </a:solidFill>
                <a:latin typeface="Calibri" pitchFamily="34" charset="0"/>
                <a:ea typeface="Calibri" pitchFamily="34" charset="-122"/>
                <a:cs typeface="Calibri" pitchFamily="34" charset="-120"/>
              </a:rPr>
              <a:t>Trust, shown not told</a:t>
            </a:r>
            <a:endParaRPr lang="en-US" sz="1350" dirty="0"/>
          </a:p>
        </p:txBody>
      </p:sp>
      <p:sp>
        <p:nvSpPr>
          <p:cNvPr id="21" name="Text 19"/>
          <p:cNvSpPr/>
          <p:nvPr/>
        </p:nvSpPr>
        <p:spPr>
          <a:xfrm>
            <a:off x="8156448" y="4325112"/>
            <a:ext cx="3200400" cy="1243584"/>
          </a:xfrm>
          <a:prstGeom prst="rect">
            <a:avLst/>
          </a:prstGeom>
          <a:noFill/>
          <a:ln/>
        </p:spPr>
        <p:txBody>
          <a:bodyPr wrap="square" lIns="0" tIns="0" rIns="0" bIns="0" rtlCol="0" anchor="t"/>
          <a:lstStyle/>
          <a:p>
            <a:pPr algn="l" indent="0" marL="0">
              <a:lnSpc>
                <a:spcPct val="115000"/>
              </a:lnSpc>
              <a:buNone/>
            </a:pPr>
            <a:r>
              <a:rPr lang="en-US" sz="1050" dirty="0">
                <a:solidFill>
                  <a:srgbClr val="6A6157"/>
                </a:solidFill>
                <a:latin typeface="Calibri" pitchFamily="34" charset="0"/>
                <a:ea typeface="Calibri" pitchFamily="34" charset="-122"/>
                <a:cs typeface="Calibri" pitchFamily="34" charset="-120"/>
              </a:rPr>
              <a:t>Sources named, ranges instead of deadlines, “ask a doctor” where it matters. Small signals, everywhere.</a:t>
            </a:r>
            <a:endParaRPr lang="en-US" sz="1050" dirty="0"/>
          </a:p>
        </p:txBody>
      </p:sp>
      <p:sp>
        <p:nvSpPr>
          <p:cNvPr id="22" name="Text 20"/>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777240"/>
            <a:ext cx="9601200" cy="1005840"/>
          </a:xfrm>
          <a:prstGeom prst="rect">
            <a:avLst/>
          </a:prstGeom>
          <a:noFill/>
          <a:ln/>
        </p:spPr>
        <p:txBody>
          <a:bodyPr wrap="square" lIns="0" tIns="0" rIns="0" bIns="0" rtlCol="0" anchor="ctr"/>
          <a:lstStyle/>
          <a:p>
            <a:pPr algn="l" indent="0" marL="0">
              <a:buNone/>
            </a:pPr>
            <a:r>
              <a:rPr lang="en-US" sz="3200" dirty="0">
                <a:solidFill>
                  <a:srgbClr val="2C2C2C"/>
                </a:solidFill>
                <a:latin typeface="Cambria" pitchFamily="34" charset="0"/>
                <a:ea typeface="Cambria" pitchFamily="34" charset="-122"/>
                <a:cs typeface="Cambria" pitchFamily="34" charset="-120"/>
              </a:rPr>
              <a:t>What's in it, and what isn't</a:t>
            </a:r>
            <a:endParaRPr lang="en-US" sz="3200" dirty="0"/>
          </a:p>
        </p:txBody>
      </p:sp>
      <p:sp>
        <p:nvSpPr>
          <p:cNvPr id="3" name="Text 1"/>
          <p:cNvSpPr/>
          <p:nvPr/>
        </p:nvSpPr>
        <p:spPr>
          <a:xfrm>
            <a:off x="640080" y="1691640"/>
            <a:ext cx="7315200" cy="320040"/>
          </a:xfrm>
          <a:prstGeom prst="rect">
            <a:avLst/>
          </a:prstGeom>
          <a:noFill/>
          <a:ln/>
        </p:spPr>
        <p:txBody>
          <a:bodyPr wrap="square" lIns="0" tIns="0" rIns="0" bIns="0" rtlCol="0" anchor="ctr"/>
          <a:lstStyle/>
          <a:p>
            <a:pPr algn="l" indent="0" marL="0">
              <a:buNone/>
            </a:pPr>
            <a:r>
              <a:rPr lang="en-US" sz="1000" b="1" spc="200" kern="0" dirty="0">
                <a:solidFill>
                  <a:srgbClr val="89745B"/>
                </a:solidFill>
                <a:latin typeface="Calibri" pitchFamily="34" charset="0"/>
                <a:ea typeface="Calibri" pitchFamily="34" charset="-122"/>
                <a:cs typeface="Calibri" pitchFamily="34" charset="-120"/>
              </a:rPr>
              <a:t>BUILT</a:t>
            </a:r>
            <a:endParaRPr lang="en-US" sz="1000" dirty="0"/>
          </a:p>
        </p:txBody>
      </p:sp>
      <p:sp>
        <p:nvSpPr>
          <p:cNvPr id="4" name="Shape 2"/>
          <p:cNvSpPr/>
          <p:nvPr/>
        </p:nvSpPr>
        <p:spPr>
          <a:xfrm>
            <a:off x="640080" y="2011680"/>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5" name="Text 3"/>
          <p:cNvSpPr/>
          <p:nvPr/>
        </p:nvSpPr>
        <p:spPr>
          <a:xfrm>
            <a:off x="786384" y="2084832"/>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1,149</a:t>
            </a:r>
            <a:endParaRPr lang="en-US" sz="2400" dirty="0"/>
          </a:p>
        </p:txBody>
      </p:sp>
      <p:sp>
        <p:nvSpPr>
          <p:cNvPr id="6" name="Text 4"/>
          <p:cNvSpPr/>
          <p:nvPr/>
        </p:nvSpPr>
        <p:spPr>
          <a:xfrm>
            <a:off x="786384" y="2542032"/>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activities, birth to seven years</a:t>
            </a:r>
            <a:endParaRPr lang="en-US" sz="900" dirty="0"/>
          </a:p>
        </p:txBody>
      </p:sp>
      <p:sp>
        <p:nvSpPr>
          <p:cNvPr id="7" name="Shape 5"/>
          <p:cNvSpPr/>
          <p:nvPr/>
        </p:nvSpPr>
        <p:spPr>
          <a:xfrm>
            <a:off x="3630168" y="2011680"/>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8" name="Text 6"/>
          <p:cNvSpPr/>
          <p:nvPr/>
        </p:nvSpPr>
        <p:spPr>
          <a:xfrm>
            <a:off x="3776472" y="2084832"/>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137</a:t>
            </a:r>
            <a:endParaRPr lang="en-US" sz="2400" dirty="0"/>
          </a:p>
        </p:txBody>
      </p:sp>
      <p:sp>
        <p:nvSpPr>
          <p:cNvPr id="9" name="Text 7"/>
          <p:cNvSpPr/>
          <p:nvPr/>
        </p:nvSpPr>
        <p:spPr>
          <a:xfrm>
            <a:off x="3776472" y="2542032"/>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things to look out for as they grow</a:t>
            </a:r>
            <a:endParaRPr lang="en-US" sz="900" dirty="0"/>
          </a:p>
        </p:txBody>
      </p:sp>
      <p:sp>
        <p:nvSpPr>
          <p:cNvPr id="10" name="Shape 8"/>
          <p:cNvSpPr/>
          <p:nvPr/>
        </p:nvSpPr>
        <p:spPr>
          <a:xfrm>
            <a:off x="640080" y="3054096"/>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11" name="Text 9"/>
          <p:cNvSpPr/>
          <p:nvPr/>
        </p:nvSpPr>
        <p:spPr>
          <a:xfrm>
            <a:off x="786384" y="3127248"/>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54</a:t>
            </a:r>
            <a:endParaRPr lang="en-US" sz="2400" dirty="0"/>
          </a:p>
        </p:txBody>
      </p:sp>
      <p:sp>
        <p:nvSpPr>
          <p:cNvPr id="12" name="Text 10"/>
          <p:cNvSpPr/>
          <p:nvPr/>
        </p:nvSpPr>
        <p:spPr>
          <a:xfrm>
            <a:off x="786384" y="3584448"/>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vaccinations, government and IAP</a:t>
            </a:r>
            <a:endParaRPr lang="en-US" sz="900" dirty="0"/>
          </a:p>
        </p:txBody>
      </p:sp>
      <p:sp>
        <p:nvSpPr>
          <p:cNvPr id="13" name="Shape 11"/>
          <p:cNvSpPr/>
          <p:nvPr/>
        </p:nvSpPr>
        <p:spPr>
          <a:xfrm>
            <a:off x="3630168" y="3054096"/>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14" name="Text 12"/>
          <p:cNvSpPr/>
          <p:nvPr/>
        </p:nvSpPr>
        <p:spPr>
          <a:xfrm>
            <a:off x="3776472" y="3127248"/>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17</a:t>
            </a:r>
            <a:endParaRPr lang="en-US" sz="2400" dirty="0"/>
          </a:p>
        </p:txBody>
      </p:sp>
      <p:sp>
        <p:nvSpPr>
          <p:cNvPr id="15" name="Text 13"/>
          <p:cNvSpPr/>
          <p:nvPr/>
        </p:nvSpPr>
        <p:spPr>
          <a:xfrm>
            <a:off x="3776472" y="3584448"/>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database tables</a:t>
            </a:r>
            <a:endParaRPr lang="en-US" sz="900" dirty="0"/>
          </a:p>
        </p:txBody>
      </p:sp>
      <p:sp>
        <p:nvSpPr>
          <p:cNvPr id="16" name="Shape 14"/>
          <p:cNvSpPr/>
          <p:nvPr/>
        </p:nvSpPr>
        <p:spPr>
          <a:xfrm>
            <a:off x="640080" y="4096512"/>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17" name="Text 15"/>
          <p:cNvSpPr/>
          <p:nvPr/>
        </p:nvSpPr>
        <p:spPr>
          <a:xfrm>
            <a:off x="786384" y="4169664"/>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142</a:t>
            </a:r>
            <a:endParaRPr lang="en-US" sz="2400" dirty="0"/>
          </a:p>
        </p:txBody>
      </p:sp>
      <p:sp>
        <p:nvSpPr>
          <p:cNvPr id="18" name="Text 16"/>
          <p:cNvSpPr/>
          <p:nvPr/>
        </p:nvSpPr>
        <p:spPr>
          <a:xfrm>
            <a:off x="786384" y="4626864"/>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commits on the website</a:t>
            </a:r>
            <a:endParaRPr lang="en-US" sz="900" dirty="0"/>
          </a:p>
        </p:txBody>
      </p:sp>
      <p:sp>
        <p:nvSpPr>
          <p:cNvPr id="19" name="Shape 17"/>
          <p:cNvSpPr/>
          <p:nvPr/>
        </p:nvSpPr>
        <p:spPr>
          <a:xfrm>
            <a:off x="3630168" y="4096512"/>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20" name="Text 18"/>
          <p:cNvSpPr/>
          <p:nvPr/>
        </p:nvSpPr>
        <p:spPr>
          <a:xfrm>
            <a:off x="3776472" y="4169664"/>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30+</a:t>
            </a:r>
            <a:endParaRPr lang="en-US" sz="2400" dirty="0"/>
          </a:p>
        </p:txBody>
      </p:sp>
      <p:sp>
        <p:nvSpPr>
          <p:cNvPr id="21" name="Text 19"/>
          <p:cNvSpPr/>
          <p:nvPr/>
        </p:nvSpPr>
        <p:spPr>
          <a:xfrm>
            <a:off x="3776472" y="4626864"/>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on the app. Some shipped straight through Vercel.</a:t>
            </a:r>
            <a:endParaRPr lang="en-US" sz="900" dirty="0"/>
          </a:p>
        </p:txBody>
      </p:sp>
      <p:sp>
        <p:nvSpPr>
          <p:cNvPr id="22" name="Shape 20"/>
          <p:cNvSpPr/>
          <p:nvPr/>
        </p:nvSpPr>
        <p:spPr>
          <a:xfrm>
            <a:off x="640080" y="5138928"/>
            <a:ext cx="2862072" cy="914400"/>
          </a:xfrm>
          <a:prstGeom prst="rect">
            <a:avLst/>
          </a:prstGeom>
          <a:solidFill>
            <a:srgbClr val="FFFDFC"/>
          </a:solidFill>
          <a:ln w="9525">
            <a:solidFill>
              <a:srgbClr val="D9D2C4"/>
            </a:solidFill>
            <a:prstDash val="solid"/>
          </a:ln>
          <a:effectLst>
            <a:outerShdw sx="100000" sy="100000" kx="0" ky="0" algn="bl" rotWithShape="0" blurRad="63500" dist="25400" dir="5400000">
              <a:srgbClr val="4A3323">
                <a:alpha val="16000"/>
              </a:srgbClr>
            </a:outerShdw>
          </a:effectLst>
        </p:spPr>
      </p:sp>
      <p:sp>
        <p:nvSpPr>
          <p:cNvPr id="23" name="Text 21"/>
          <p:cNvSpPr/>
          <p:nvPr/>
        </p:nvSpPr>
        <p:spPr>
          <a:xfrm>
            <a:off x="786384" y="5212080"/>
            <a:ext cx="2569464" cy="457200"/>
          </a:xfrm>
          <a:prstGeom prst="rect">
            <a:avLst/>
          </a:prstGeom>
          <a:noFill/>
          <a:ln/>
        </p:spPr>
        <p:txBody>
          <a:bodyPr wrap="square" lIns="0" tIns="0" rIns="0" bIns="0" rtlCol="0" anchor="b"/>
          <a:lstStyle/>
          <a:p>
            <a:pPr indent="0" marL="0">
              <a:buNone/>
            </a:pPr>
            <a:r>
              <a:rPr lang="en-US" sz="2400" b="1" dirty="0">
                <a:solidFill>
                  <a:srgbClr val="2C2C2C"/>
                </a:solidFill>
                <a:latin typeface="Consolas" pitchFamily="34" charset="0"/>
                <a:ea typeface="Consolas" pitchFamily="34" charset="-122"/>
                <a:cs typeface="Consolas" pitchFamily="34" charset="-120"/>
              </a:rPr>
              <a:t>33k</a:t>
            </a:r>
            <a:endParaRPr lang="en-US" sz="2400" dirty="0"/>
          </a:p>
        </p:txBody>
      </p:sp>
      <p:sp>
        <p:nvSpPr>
          <p:cNvPr id="24" name="Text 22"/>
          <p:cNvSpPr/>
          <p:nvPr/>
        </p:nvSpPr>
        <p:spPr>
          <a:xfrm>
            <a:off x="786384" y="5669280"/>
            <a:ext cx="2569464" cy="365760"/>
          </a:xfrm>
          <a:prstGeom prst="rect">
            <a:avLst/>
          </a:prstGeom>
          <a:noFill/>
          <a:ln/>
        </p:spPr>
        <p:txBody>
          <a:bodyPr wrap="square" lIns="0" tIns="0" rIns="0" bIns="0" rtlCol="0" anchor="t"/>
          <a:lstStyle/>
          <a:p>
            <a:pPr indent="0" marL="0">
              <a:lnSpc>
                <a:spcPct val="110000"/>
              </a:lnSpc>
              <a:buNone/>
            </a:pPr>
            <a:r>
              <a:rPr lang="en-US" sz="900" dirty="0">
                <a:solidFill>
                  <a:srgbClr val="6A6157"/>
                </a:solidFill>
                <a:latin typeface="Calibri" pitchFamily="34" charset="0"/>
                <a:ea typeface="Calibri" pitchFamily="34" charset="-122"/>
                <a:cs typeface="Calibri" pitchFamily="34" charset="-120"/>
              </a:rPr>
              <a:t>lines of code</a:t>
            </a:r>
            <a:endParaRPr lang="en-US" sz="900" dirty="0"/>
          </a:p>
        </p:txBody>
      </p:sp>
      <p:sp>
        <p:nvSpPr>
          <p:cNvPr id="25" name="Text 23"/>
          <p:cNvSpPr/>
          <p:nvPr/>
        </p:nvSpPr>
        <p:spPr>
          <a:xfrm>
            <a:off x="6858000" y="1691640"/>
            <a:ext cx="4572000" cy="274320"/>
          </a:xfrm>
          <a:prstGeom prst="rect">
            <a:avLst/>
          </a:prstGeom>
          <a:noFill/>
          <a:ln/>
        </p:spPr>
        <p:txBody>
          <a:bodyPr wrap="square" lIns="0" tIns="0" rIns="0" bIns="0" rtlCol="0" anchor="ctr"/>
          <a:lstStyle/>
          <a:p>
            <a:pPr indent="0" marL="0">
              <a:buNone/>
            </a:pPr>
            <a:r>
              <a:rPr lang="en-US" sz="1000" b="1" spc="100" kern="0" dirty="0">
                <a:solidFill>
                  <a:srgbClr val="89745B"/>
                </a:solidFill>
                <a:latin typeface="Calibri" pitchFamily="34" charset="0"/>
                <a:ea typeface="Calibri" pitchFamily="34" charset="-122"/>
                <a:cs typeface="Calibri" pitchFamily="34" charset="-120"/>
              </a:rPr>
              <a:t>WHERE IT STANDS</a:t>
            </a:r>
            <a:endParaRPr lang="en-US" sz="1000" dirty="0"/>
          </a:p>
        </p:txBody>
      </p:sp>
      <p:sp>
        <p:nvSpPr>
          <p:cNvPr id="26" name="Shape 24"/>
          <p:cNvSpPr/>
          <p:nvPr/>
        </p:nvSpPr>
        <p:spPr>
          <a:xfrm>
            <a:off x="6858000" y="2103120"/>
            <a:ext cx="674370" cy="274320"/>
          </a:xfrm>
          <a:prstGeom prst="rect">
            <a:avLst/>
          </a:prstGeom>
          <a:ln w="12700">
            <a:solidFill>
              <a:srgbClr val="6F8A73"/>
            </a:solidFill>
            <a:prstDash val="solid"/>
          </a:ln>
        </p:spPr>
      </p:sp>
      <p:sp>
        <p:nvSpPr>
          <p:cNvPr id="27" name="Text 25"/>
          <p:cNvSpPr/>
          <p:nvPr/>
        </p:nvSpPr>
        <p:spPr>
          <a:xfrm>
            <a:off x="6858000" y="2103120"/>
            <a:ext cx="674370" cy="274320"/>
          </a:xfrm>
          <a:prstGeom prst="rect">
            <a:avLst/>
          </a:prstGeom>
          <a:noFill/>
          <a:ln/>
        </p:spPr>
        <p:txBody>
          <a:bodyPr wrap="square" lIns="0" tIns="0" rIns="0" bIns="0" rtlCol="0" anchor="ctr"/>
          <a:lstStyle/>
          <a:p>
            <a:pPr algn="ctr" indent="0" marL="0">
              <a:buNone/>
            </a:pPr>
            <a:r>
              <a:rPr lang="en-US" sz="850" b="1" spc="100" kern="0" dirty="0">
                <a:solidFill>
                  <a:srgbClr val="6F8A73"/>
                </a:solidFill>
                <a:latin typeface="Consolas" pitchFamily="34" charset="0"/>
                <a:ea typeface="Consolas" pitchFamily="34" charset="-122"/>
                <a:cs typeface="Consolas" pitchFamily="34" charset="-120"/>
              </a:rPr>
              <a:t>WORKING</a:t>
            </a:r>
            <a:endParaRPr lang="en-US" sz="850" dirty="0"/>
          </a:p>
        </p:txBody>
      </p:sp>
      <p:sp>
        <p:nvSpPr>
          <p:cNvPr id="28" name="Text 26"/>
          <p:cNvSpPr/>
          <p:nvPr/>
        </p:nvSpPr>
        <p:spPr>
          <a:xfrm>
            <a:off x="6858000" y="246888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6A6157"/>
                </a:solidFill>
                <a:latin typeface="Calibri" pitchFamily="34" charset="0"/>
                <a:ea typeface="Calibri" pitchFamily="34" charset="-122"/>
                <a:cs typeface="Calibri" pitchFamily="34" charset="-120"/>
              </a:rPr>
              <a:t>Sign-up, the daily four, discoveries, vaccinations, the parent side, the AI, community. Real accounts and a real database.</a:t>
            </a:r>
            <a:endParaRPr lang="en-US" sz="1100" dirty="0"/>
          </a:p>
        </p:txBody>
      </p:sp>
      <p:sp>
        <p:nvSpPr>
          <p:cNvPr id="29" name="Shape 27"/>
          <p:cNvSpPr/>
          <p:nvPr/>
        </p:nvSpPr>
        <p:spPr>
          <a:xfrm>
            <a:off x="6858000" y="3383280"/>
            <a:ext cx="788670" cy="274320"/>
          </a:xfrm>
          <a:prstGeom prst="rect">
            <a:avLst/>
          </a:prstGeom>
          <a:ln w="12700">
            <a:solidFill>
              <a:srgbClr val="B4553F"/>
            </a:solidFill>
            <a:prstDash val="solid"/>
          </a:ln>
        </p:spPr>
      </p:sp>
      <p:sp>
        <p:nvSpPr>
          <p:cNvPr id="30" name="Text 28"/>
          <p:cNvSpPr/>
          <p:nvPr/>
        </p:nvSpPr>
        <p:spPr>
          <a:xfrm>
            <a:off x="6858000" y="3383280"/>
            <a:ext cx="788670" cy="274320"/>
          </a:xfrm>
          <a:prstGeom prst="rect">
            <a:avLst/>
          </a:prstGeom>
          <a:noFill/>
          <a:ln/>
        </p:spPr>
        <p:txBody>
          <a:bodyPr wrap="square" lIns="0" tIns="0" rIns="0" bIns="0" rtlCol="0" anchor="ctr"/>
          <a:lstStyle/>
          <a:p>
            <a:pPr algn="ctr" indent="0" marL="0">
              <a:buNone/>
            </a:pPr>
            <a:r>
              <a:rPr lang="en-US" sz="850" b="1" spc="100" kern="0" dirty="0">
                <a:solidFill>
                  <a:srgbClr val="B4553F"/>
                </a:solidFill>
                <a:latin typeface="Consolas" pitchFamily="34" charset="0"/>
                <a:ea typeface="Consolas" pitchFamily="34" charset="-122"/>
                <a:cs typeface="Consolas" pitchFamily="34" charset="-120"/>
              </a:rPr>
              <a:t>HALF DONE</a:t>
            </a:r>
            <a:endParaRPr lang="en-US" sz="850" dirty="0"/>
          </a:p>
        </p:txBody>
      </p:sp>
      <p:sp>
        <p:nvSpPr>
          <p:cNvPr id="31" name="Text 29"/>
          <p:cNvSpPr/>
          <p:nvPr/>
        </p:nvSpPr>
        <p:spPr>
          <a:xfrm>
            <a:off x="6858000" y="374904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6A6157"/>
                </a:solidFill>
                <a:latin typeface="Calibri" pitchFamily="34" charset="0"/>
                <a:ea typeface="Calibri" pitchFamily="34" charset="-122"/>
                <a:cs typeface="Calibri" pitchFamily="34" charset="-120"/>
              </a:rPr>
              <a:t>Reports, the kit guide and the product guide are built and clickable, but the content isn't written yet.</a:t>
            </a:r>
            <a:endParaRPr lang="en-US" sz="1100" dirty="0"/>
          </a:p>
        </p:txBody>
      </p:sp>
      <p:sp>
        <p:nvSpPr>
          <p:cNvPr id="32" name="Text 30"/>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2D7C6"/>
        </a:solidFill>
      </p:bgPr>
    </p:bg>
    <p:spTree>
      <p:nvGrpSpPr>
        <p:cNvPr id="1" name=""/>
        <p:cNvGrpSpPr/>
        <p:nvPr/>
      </p:nvGrpSpPr>
      <p:grpSpPr>
        <a:xfrm>
          <a:off x="0" y="0"/>
          <a:ext cx="0" cy="0"/>
          <a:chOff x="0" y="0"/>
          <a:chExt cx="0" cy="0"/>
        </a:xfrm>
      </p:grpSpPr>
      <p:sp>
        <p:nvSpPr>
          <p:cNvPr id="2" name="Shape 0"/>
          <p:cNvSpPr/>
          <p:nvPr/>
        </p:nvSpPr>
        <p:spPr>
          <a:xfrm>
            <a:off x="640080" y="1371600"/>
            <a:ext cx="2377440" cy="2971800"/>
          </a:xfrm>
          <a:prstGeom prst="rect">
            <a:avLst/>
          </a:prstGeom>
          <a:ln w="19050">
            <a:solidFill>
              <a:srgbClr val="B4553F"/>
            </a:solidFill>
            <a:prstDash val="dash"/>
          </a:ln>
        </p:spPr>
      </p:sp>
      <p:sp>
        <p:nvSpPr>
          <p:cNvPr id="3" name="Text 1"/>
          <p:cNvSpPr/>
          <p:nvPr/>
        </p:nvSpPr>
        <p:spPr>
          <a:xfrm>
            <a:off x="640080" y="1371600"/>
            <a:ext cx="2377440" cy="2971800"/>
          </a:xfrm>
          <a:prstGeom prst="rect">
            <a:avLst/>
          </a:prstGeom>
          <a:noFill/>
          <a:ln/>
        </p:spPr>
        <p:txBody>
          <a:bodyPr wrap="square" lIns="0" tIns="0" rIns="0" bIns="0" rtlCol="0" anchor="ctr"/>
          <a:lstStyle/>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PHOTO OF</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YATI</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GOES HERE</a:t>
            </a:r>
            <a:endParaRPr lang="en-US" sz="1000" dirty="0"/>
          </a:p>
        </p:txBody>
      </p:sp>
      <p:sp>
        <p:nvSpPr>
          <p:cNvPr id="4" name="Text 2"/>
          <p:cNvSpPr/>
          <p:nvPr/>
        </p:nvSpPr>
        <p:spPr>
          <a:xfrm>
            <a:off x="3383280" y="1371600"/>
            <a:ext cx="5486400" cy="274320"/>
          </a:xfrm>
          <a:prstGeom prst="rect">
            <a:avLst/>
          </a:prstGeom>
          <a:noFill/>
          <a:ln/>
        </p:spPr>
        <p:txBody>
          <a:bodyPr wrap="square" lIns="0" tIns="0" rIns="0" bIns="0" rtlCol="0" anchor="ctr"/>
          <a:lstStyle/>
          <a:p>
            <a:pPr indent="0" marL="0">
              <a:buNone/>
            </a:pPr>
            <a:r>
              <a:rPr lang="en-US" sz="1050" b="1" spc="100" kern="0" dirty="0">
                <a:solidFill>
                  <a:srgbClr val="89745B"/>
                </a:solidFill>
                <a:latin typeface="Calibri" pitchFamily="34" charset="0"/>
                <a:ea typeface="Calibri" pitchFamily="34" charset="-122"/>
                <a:cs typeface="Calibri" pitchFamily="34" charset="-120"/>
              </a:rPr>
              <a:t>INTERN ONE</a:t>
            </a:r>
            <a:endParaRPr lang="en-US" sz="1050" dirty="0"/>
          </a:p>
        </p:txBody>
      </p:sp>
      <p:sp>
        <p:nvSpPr>
          <p:cNvPr id="5" name="Text 3"/>
          <p:cNvSpPr/>
          <p:nvPr/>
        </p:nvSpPr>
        <p:spPr>
          <a:xfrm>
            <a:off x="3383280" y="1645920"/>
            <a:ext cx="5486400" cy="914400"/>
          </a:xfrm>
          <a:prstGeom prst="rect">
            <a:avLst/>
          </a:prstGeom>
          <a:noFill/>
          <a:ln/>
        </p:spPr>
        <p:txBody>
          <a:bodyPr wrap="square" lIns="0" tIns="0" rIns="0" bIns="0" rtlCol="0" anchor="ctr"/>
          <a:lstStyle/>
          <a:p>
            <a:pPr indent="0" marL="0">
              <a:buNone/>
            </a:pPr>
            <a:r>
              <a:rPr lang="en-US" sz="4400" dirty="0">
                <a:solidFill>
                  <a:srgbClr val="2C2C2C"/>
                </a:solidFill>
                <a:latin typeface="Cambria" pitchFamily="34" charset="0"/>
                <a:ea typeface="Cambria" pitchFamily="34" charset="-122"/>
                <a:cs typeface="Cambria" pitchFamily="34" charset="-120"/>
              </a:rPr>
              <a:t>Yati</a:t>
            </a:r>
            <a:endParaRPr lang="en-US" sz="4400" dirty="0"/>
          </a:p>
        </p:txBody>
      </p:sp>
      <p:sp>
        <p:nvSpPr>
          <p:cNvPr id="6" name="Text 4"/>
          <p:cNvSpPr/>
          <p:nvPr/>
        </p:nvSpPr>
        <p:spPr>
          <a:xfrm>
            <a:off x="3383280" y="2697480"/>
            <a:ext cx="7498080" cy="182880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We call her aggressive. We mean it as a compliment.</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All of us are a little scared of her. Also a compliment.</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But if a job is hers, it's done, and it's done properly. She never needs chasing.</a:t>
            </a:r>
            <a:endParaRPr lang="en-US" sz="1400" dirty="0"/>
          </a:p>
        </p:txBody>
      </p:sp>
      <p:sp>
        <p:nvSpPr>
          <p:cNvPr id="7" name="Text 5"/>
          <p:cNvSpPr/>
          <p:nvPr/>
        </p:nvSpPr>
        <p:spPr>
          <a:xfrm>
            <a:off x="3383280" y="4663440"/>
            <a:ext cx="7498080" cy="548640"/>
          </a:xfrm>
          <a:prstGeom prst="rect">
            <a:avLst/>
          </a:prstGeom>
          <a:noFill/>
          <a:ln/>
        </p:spPr>
        <p:txBody>
          <a:bodyPr wrap="square" lIns="0" tIns="0" rIns="0" bIns="0" rtlCol="0" anchor="ctr"/>
          <a:lstStyle/>
          <a:p>
            <a:pPr indent="0" marL="0">
              <a:buNone/>
            </a:pPr>
            <a:r>
              <a:rPr lang="en-US" sz="1500" i="1" dirty="0">
                <a:solidFill>
                  <a:srgbClr val="89745B"/>
                </a:solidFill>
                <a:latin typeface="Cambria" pitchFamily="34" charset="0"/>
                <a:ea typeface="Cambria" pitchFamily="34" charset="-122"/>
                <a:cs typeface="Cambria" pitchFamily="34" charset="-120"/>
              </a:rPr>
              <a:t>Best approached with your work already finished.</a:t>
            </a:r>
            <a:endParaRPr lang="en-US" sz="1500" dirty="0"/>
          </a:p>
        </p:txBody>
      </p:sp>
      <p:sp>
        <p:nvSpPr>
          <p:cNvPr id="8" name="Text 6"/>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2D7C6"/>
        </a:solidFill>
      </p:bgPr>
    </p:bg>
    <p:spTree>
      <p:nvGrpSpPr>
        <p:cNvPr id="1" name=""/>
        <p:cNvGrpSpPr/>
        <p:nvPr/>
      </p:nvGrpSpPr>
      <p:grpSpPr>
        <a:xfrm>
          <a:off x="0" y="0"/>
          <a:ext cx="0" cy="0"/>
          <a:chOff x="0" y="0"/>
          <a:chExt cx="0" cy="0"/>
        </a:xfrm>
      </p:grpSpPr>
      <p:sp>
        <p:nvSpPr>
          <p:cNvPr id="2" name="Shape 0"/>
          <p:cNvSpPr/>
          <p:nvPr/>
        </p:nvSpPr>
        <p:spPr>
          <a:xfrm>
            <a:off x="640080" y="1371600"/>
            <a:ext cx="2377440" cy="2971800"/>
          </a:xfrm>
          <a:prstGeom prst="rect">
            <a:avLst/>
          </a:prstGeom>
          <a:ln w="19050">
            <a:solidFill>
              <a:srgbClr val="B4553F"/>
            </a:solidFill>
            <a:prstDash val="dash"/>
          </a:ln>
        </p:spPr>
      </p:sp>
      <p:sp>
        <p:nvSpPr>
          <p:cNvPr id="3" name="Text 1"/>
          <p:cNvSpPr/>
          <p:nvPr/>
        </p:nvSpPr>
        <p:spPr>
          <a:xfrm>
            <a:off x="640080" y="1371600"/>
            <a:ext cx="2377440" cy="2971800"/>
          </a:xfrm>
          <a:prstGeom prst="rect">
            <a:avLst/>
          </a:prstGeom>
          <a:noFill/>
          <a:ln/>
        </p:spPr>
        <p:txBody>
          <a:bodyPr wrap="square" lIns="0" tIns="0" rIns="0" bIns="0" rtlCol="0" anchor="ctr"/>
          <a:lstStyle/>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PHOTO OF</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MUSKAN</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GOES HERE</a:t>
            </a:r>
            <a:endParaRPr lang="en-US" sz="1000" dirty="0"/>
          </a:p>
        </p:txBody>
      </p:sp>
      <p:sp>
        <p:nvSpPr>
          <p:cNvPr id="4" name="Text 2"/>
          <p:cNvSpPr/>
          <p:nvPr/>
        </p:nvSpPr>
        <p:spPr>
          <a:xfrm>
            <a:off x="3383280" y="1371600"/>
            <a:ext cx="5486400" cy="274320"/>
          </a:xfrm>
          <a:prstGeom prst="rect">
            <a:avLst/>
          </a:prstGeom>
          <a:noFill/>
          <a:ln/>
        </p:spPr>
        <p:txBody>
          <a:bodyPr wrap="square" lIns="0" tIns="0" rIns="0" bIns="0" rtlCol="0" anchor="ctr"/>
          <a:lstStyle/>
          <a:p>
            <a:pPr indent="0" marL="0">
              <a:buNone/>
            </a:pPr>
            <a:r>
              <a:rPr lang="en-US" sz="1050" b="1" spc="100" kern="0" dirty="0">
                <a:solidFill>
                  <a:srgbClr val="89745B"/>
                </a:solidFill>
                <a:latin typeface="Calibri" pitchFamily="34" charset="0"/>
                <a:ea typeface="Calibri" pitchFamily="34" charset="-122"/>
                <a:cs typeface="Calibri" pitchFamily="34" charset="-120"/>
              </a:rPr>
              <a:t>INTERN TWO</a:t>
            </a:r>
            <a:endParaRPr lang="en-US" sz="1050" dirty="0"/>
          </a:p>
        </p:txBody>
      </p:sp>
      <p:sp>
        <p:nvSpPr>
          <p:cNvPr id="5" name="Text 3"/>
          <p:cNvSpPr/>
          <p:nvPr/>
        </p:nvSpPr>
        <p:spPr>
          <a:xfrm>
            <a:off x="3383280" y="1645920"/>
            <a:ext cx="5486400" cy="914400"/>
          </a:xfrm>
          <a:prstGeom prst="rect">
            <a:avLst/>
          </a:prstGeom>
          <a:noFill/>
          <a:ln/>
        </p:spPr>
        <p:txBody>
          <a:bodyPr wrap="square" lIns="0" tIns="0" rIns="0" bIns="0" rtlCol="0" anchor="ctr"/>
          <a:lstStyle/>
          <a:p>
            <a:pPr indent="0" marL="0">
              <a:buNone/>
            </a:pPr>
            <a:r>
              <a:rPr lang="en-US" sz="4400" dirty="0">
                <a:solidFill>
                  <a:srgbClr val="2C2C2C"/>
                </a:solidFill>
                <a:latin typeface="Cambria" pitchFamily="34" charset="0"/>
                <a:ea typeface="Cambria" pitchFamily="34" charset="-122"/>
                <a:cs typeface="Cambria" pitchFamily="34" charset="-120"/>
              </a:rPr>
              <a:t>Muskan</a:t>
            </a:r>
            <a:endParaRPr lang="en-US" sz="4400" dirty="0"/>
          </a:p>
        </p:txBody>
      </p:sp>
      <p:sp>
        <p:nvSpPr>
          <p:cNvPr id="6" name="Text 4"/>
          <p:cNvSpPr/>
          <p:nvPr/>
        </p:nvSpPr>
        <p:spPr>
          <a:xfrm>
            <a:off x="3383280" y="2697480"/>
            <a:ext cx="7498080" cy="182880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Brutally honest about everything. You always know exactly where you stand with her.</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Head down, gets on with it, never makes noise about any of it.</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She gets ill sometimes. Once she sent Rachit her actual medical reports as proof. Nobody had asked for proof.</a:t>
            </a:r>
            <a:endParaRPr lang="en-US" sz="1400" dirty="0"/>
          </a:p>
        </p:txBody>
      </p:sp>
      <p:sp>
        <p:nvSpPr>
          <p:cNvPr id="7" name="Text 5"/>
          <p:cNvSpPr/>
          <p:nvPr/>
        </p:nvSpPr>
        <p:spPr>
          <a:xfrm>
            <a:off x="3383280" y="4663440"/>
            <a:ext cx="7498080" cy="548640"/>
          </a:xfrm>
          <a:prstGeom prst="rect">
            <a:avLst/>
          </a:prstGeom>
          <a:noFill/>
          <a:ln/>
        </p:spPr>
        <p:txBody>
          <a:bodyPr wrap="square" lIns="0" tIns="0" rIns="0" bIns="0" rtlCol="0" anchor="ctr"/>
          <a:lstStyle/>
          <a:p>
            <a:pPr indent="0" marL="0">
              <a:buNone/>
            </a:pPr>
            <a:r>
              <a:rPr lang="en-US" sz="1500" i="1" dirty="0">
                <a:solidFill>
                  <a:srgbClr val="89745B"/>
                </a:solidFill>
                <a:latin typeface="Cambria" pitchFamily="34" charset="0"/>
                <a:ea typeface="Cambria" pitchFamily="34" charset="-122"/>
                <a:cs typeface="Cambria" pitchFamily="34" charset="-120"/>
              </a:rPr>
              <a:t>Most of us text “not well today.” Muskan submits evidence.</a:t>
            </a:r>
            <a:endParaRPr lang="en-US" sz="1500" dirty="0"/>
          </a:p>
        </p:txBody>
      </p:sp>
      <p:sp>
        <p:nvSpPr>
          <p:cNvPr id="8" name="Text 6"/>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09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D7C6"/>
        </a:solidFill>
      </p:bgPr>
    </p:bg>
    <p:spTree>
      <p:nvGrpSpPr>
        <p:cNvPr id="1" name=""/>
        <p:cNvGrpSpPr/>
        <p:nvPr/>
      </p:nvGrpSpPr>
      <p:grpSpPr>
        <a:xfrm>
          <a:off x="0" y="0"/>
          <a:ext cx="0" cy="0"/>
          <a:chOff x="0" y="0"/>
          <a:chExt cx="0" cy="0"/>
        </a:xfrm>
      </p:grpSpPr>
      <p:sp>
        <p:nvSpPr>
          <p:cNvPr id="2" name="Shape 0"/>
          <p:cNvSpPr/>
          <p:nvPr/>
        </p:nvSpPr>
        <p:spPr>
          <a:xfrm>
            <a:off x="640080" y="1371600"/>
            <a:ext cx="2377440" cy="2971800"/>
          </a:xfrm>
          <a:prstGeom prst="rect">
            <a:avLst/>
          </a:prstGeom>
          <a:ln w="19050">
            <a:solidFill>
              <a:srgbClr val="B4553F"/>
            </a:solidFill>
            <a:prstDash val="dash"/>
          </a:ln>
        </p:spPr>
      </p:sp>
      <p:sp>
        <p:nvSpPr>
          <p:cNvPr id="3" name="Text 1"/>
          <p:cNvSpPr/>
          <p:nvPr/>
        </p:nvSpPr>
        <p:spPr>
          <a:xfrm>
            <a:off x="640080" y="1371600"/>
            <a:ext cx="2377440" cy="2971800"/>
          </a:xfrm>
          <a:prstGeom prst="rect">
            <a:avLst/>
          </a:prstGeom>
          <a:noFill/>
          <a:ln/>
        </p:spPr>
        <p:txBody>
          <a:bodyPr wrap="square" lIns="0" tIns="0" rIns="0" bIns="0" rtlCol="0" anchor="ctr"/>
          <a:lstStyle/>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PHOTO OF</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TEJAS</a:t>
            </a:r>
            <a:endParaRPr lang="en-US" sz="1000" dirty="0"/>
          </a:p>
          <a:p>
            <a:pPr algn="ctr" indent="0" marL="0">
              <a:lnSpc>
                <a:spcPct val="140000"/>
              </a:lnSpc>
              <a:buNone/>
            </a:pPr>
            <a:r>
              <a:rPr lang="en-US" sz="1000" dirty="0">
                <a:solidFill>
                  <a:srgbClr val="B4553F"/>
                </a:solidFill>
                <a:latin typeface="Consolas" pitchFamily="34" charset="0"/>
                <a:ea typeface="Consolas" pitchFamily="34" charset="-122"/>
                <a:cs typeface="Consolas" pitchFamily="34" charset="-120"/>
              </a:rPr>
              <a:t>GOES HERE</a:t>
            </a:r>
            <a:endParaRPr lang="en-US" sz="1000" dirty="0"/>
          </a:p>
        </p:txBody>
      </p:sp>
      <p:sp>
        <p:nvSpPr>
          <p:cNvPr id="4" name="Text 2"/>
          <p:cNvSpPr/>
          <p:nvPr/>
        </p:nvSpPr>
        <p:spPr>
          <a:xfrm>
            <a:off x="3383280" y="1371600"/>
            <a:ext cx="5486400" cy="274320"/>
          </a:xfrm>
          <a:prstGeom prst="rect">
            <a:avLst/>
          </a:prstGeom>
          <a:noFill/>
          <a:ln/>
        </p:spPr>
        <p:txBody>
          <a:bodyPr wrap="square" lIns="0" tIns="0" rIns="0" bIns="0" rtlCol="0" anchor="ctr"/>
          <a:lstStyle/>
          <a:p>
            <a:pPr indent="0" marL="0">
              <a:buNone/>
            </a:pPr>
            <a:r>
              <a:rPr lang="en-US" sz="1050" b="1" spc="100" kern="0" dirty="0">
                <a:solidFill>
                  <a:srgbClr val="89745B"/>
                </a:solidFill>
                <a:latin typeface="Calibri" pitchFamily="34" charset="0"/>
                <a:ea typeface="Calibri" pitchFamily="34" charset="-122"/>
                <a:cs typeface="Calibri" pitchFamily="34" charset="-120"/>
              </a:rPr>
              <a:t>INTERN THREE</a:t>
            </a:r>
            <a:endParaRPr lang="en-US" sz="1050" dirty="0"/>
          </a:p>
        </p:txBody>
      </p:sp>
      <p:sp>
        <p:nvSpPr>
          <p:cNvPr id="5" name="Text 3"/>
          <p:cNvSpPr/>
          <p:nvPr/>
        </p:nvSpPr>
        <p:spPr>
          <a:xfrm>
            <a:off x="3383280" y="1645920"/>
            <a:ext cx="5486400" cy="914400"/>
          </a:xfrm>
          <a:prstGeom prst="rect">
            <a:avLst/>
          </a:prstGeom>
          <a:noFill/>
          <a:ln/>
        </p:spPr>
        <p:txBody>
          <a:bodyPr wrap="square" lIns="0" tIns="0" rIns="0" bIns="0" rtlCol="0" anchor="ctr"/>
          <a:lstStyle/>
          <a:p>
            <a:pPr indent="0" marL="0">
              <a:buNone/>
            </a:pPr>
            <a:r>
              <a:rPr lang="en-US" sz="4400" dirty="0">
                <a:solidFill>
                  <a:srgbClr val="2C2C2C"/>
                </a:solidFill>
                <a:latin typeface="Cambria" pitchFamily="34" charset="0"/>
                <a:ea typeface="Cambria" pitchFamily="34" charset="-122"/>
                <a:cs typeface="Cambria" pitchFamily="34" charset="-120"/>
              </a:rPr>
              <a:t>Tejas</a:t>
            </a:r>
            <a:endParaRPr lang="en-US" sz="4400" dirty="0"/>
          </a:p>
        </p:txBody>
      </p:sp>
      <p:sp>
        <p:nvSpPr>
          <p:cNvPr id="6" name="Text 4"/>
          <p:cNvSpPr/>
          <p:nvPr/>
        </p:nvSpPr>
        <p:spPr>
          <a:xfrm>
            <a:off x="3383280" y="2697480"/>
            <a:ext cx="7498080" cy="182880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National level table tennis player. Do not agree to a friendly game.</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Also the founder's nephew. Yes, we've all made the joke already.</a:t>
            </a:r>
            <a:endParaRPr lang="en-US" sz="1400" dirty="0"/>
          </a:p>
          <a:p>
            <a:pPr marL="342900" indent="-342900">
              <a:lnSpc>
                <a:spcPct val="125000"/>
              </a:lnSpc>
              <a:spcAft>
                <a:spcPts val="1000"/>
              </a:spcAft>
              <a:buSzPct val="100000"/>
              <a:buChar char="–"/>
            </a:pPr>
            <a:r>
              <a:rPr lang="en-US" sz="1400" dirty="0">
                <a:solidFill>
                  <a:srgbClr val="6A6157"/>
                </a:solidFill>
                <a:latin typeface="Calibri" pitchFamily="34" charset="0"/>
                <a:ea typeface="Calibri" pitchFamily="34" charset="-122"/>
                <a:cs typeface="Calibri" pitchFamily="34" charset="-120"/>
              </a:rPr>
              <a:t>And he still works as hard as anyone here, which he didn't have to.</a:t>
            </a:r>
            <a:endParaRPr lang="en-US" sz="1400" dirty="0"/>
          </a:p>
        </p:txBody>
      </p:sp>
      <p:sp>
        <p:nvSpPr>
          <p:cNvPr id="7" name="Text 5"/>
          <p:cNvSpPr/>
          <p:nvPr/>
        </p:nvSpPr>
        <p:spPr>
          <a:xfrm>
            <a:off x="3383280" y="4663440"/>
            <a:ext cx="7498080" cy="548640"/>
          </a:xfrm>
          <a:prstGeom prst="rect">
            <a:avLst/>
          </a:prstGeom>
          <a:noFill/>
          <a:ln/>
        </p:spPr>
        <p:txBody>
          <a:bodyPr wrap="square" lIns="0" tIns="0" rIns="0" bIns="0" rtlCol="0" anchor="ctr"/>
          <a:lstStyle/>
          <a:p>
            <a:pPr indent="0" marL="0">
              <a:buNone/>
            </a:pPr>
            <a:r>
              <a:rPr lang="en-US" sz="1500" i="1" dirty="0">
                <a:solidFill>
                  <a:srgbClr val="89745B"/>
                </a:solidFill>
                <a:latin typeface="Cambria" pitchFamily="34" charset="0"/>
                <a:ea typeface="Cambria" pitchFamily="34" charset="-122"/>
                <a:cs typeface="Cambria" pitchFamily="34" charset="-120"/>
              </a:rPr>
              <a:t>The only person in the office with a national ranking.</a:t>
            </a:r>
            <a:endParaRPr lang="en-US" sz="1500" dirty="0"/>
          </a:p>
        </p:txBody>
      </p:sp>
      <p:sp>
        <p:nvSpPr>
          <p:cNvPr id="8" name="Text 6"/>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EE7"/>
        </a:solidFill>
      </p:bgPr>
    </p:bg>
    <p:spTree>
      <p:nvGrpSpPr>
        <p:cNvPr id="1" name=""/>
        <p:cNvGrpSpPr/>
        <p:nvPr/>
      </p:nvGrpSpPr>
      <p:grpSpPr>
        <a:xfrm>
          <a:off x="0" y="0"/>
          <a:ext cx="0" cy="0"/>
          <a:chOff x="0" y="0"/>
          <a:chExt cx="0" cy="0"/>
        </a:xfrm>
      </p:grpSpPr>
      <p:sp>
        <p:nvSpPr>
          <p:cNvPr id="2" name="Text 0"/>
          <p:cNvSpPr/>
          <p:nvPr/>
        </p:nvSpPr>
        <p:spPr>
          <a:xfrm>
            <a:off x="640080" y="914400"/>
            <a:ext cx="8229600" cy="1005840"/>
          </a:xfrm>
          <a:prstGeom prst="rect">
            <a:avLst/>
          </a:prstGeom>
          <a:noFill/>
          <a:ln/>
        </p:spPr>
        <p:txBody>
          <a:bodyPr wrap="square" lIns="0" tIns="0" rIns="0" bIns="0" rtlCol="0" anchor="ctr"/>
          <a:lstStyle/>
          <a:p>
            <a:pPr indent="0" marL="0">
              <a:buNone/>
            </a:pPr>
            <a:r>
              <a:rPr lang="en-US" sz="4400" dirty="0">
                <a:solidFill>
                  <a:srgbClr val="2C2C2C"/>
                </a:solidFill>
                <a:latin typeface="Cambria" pitchFamily="34" charset="0"/>
                <a:ea typeface="Cambria" pitchFamily="34" charset="-122"/>
                <a:cs typeface="Cambria" pitchFamily="34" charset="-120"/>
              </a:rPr>
              <a:t>That's it.</a:t>
            </a:r>
            <a:endParaRPr lang="en-US" sz="4400" dirty="0"/>
          </a:p>
        </p:txBody>
      </p:sp>
      <p:sp>
        <p:nvSpPr>
          <p:cNvPr id="3" name="Text 1"/>
          <p:cNvSpPr/>
          <p:nvPr/>
        </p:nvSpPr>
        <p:spPr>
          <a:xfrm>
            <a:off x="640080" y="1965960"/>
            <a:ext cx="7772400" cy="1005840"/>
          </a:xfrm>
          <a:prstGeom prst="rect">
            <a:avLst/>
          </a:prstGeom>
          <a:noFill/>
          <a:ln/>
        </p:spPr>
        <p:txBody>
          <a:bodyPr wrap="square" lIns="0" tIns="0" rIns="0" bIns="0" rtlCol="0" anchor="ctr"/>
          <a:lstStyle/>
          <a:p>
            <a:pPr indent="0" marL="0">
              <a:lnSpc>
                <a:spcPct val="125000"/>
              </a:lnSpc>
              <a:buNone/>
            </a:pPr>
            <a:r>
              <a:rPr lang="en-US" sz="1900" dirty="0">
                <a:solidFill>
                  <a:srgbClr val="2C2C2C"/>
                </a:solidFill>
                <a:latin typeface="Calibri" pitchFamily="34" charset="0"/>
                <a:ea typeface="Calibri" pitchFamily="34" charset="-122"/>
                <a:cs typeface="Calibri" pitchFamily="34" charset="-120"/>
              </a:rPr>
              <a:t>Everyday moments into meaningful childhood memories, with as little friction as possible.</a:t>
            </a:r>
            <a:endParaRPr lang="en-US" sz="1900" dirty="0"/>
          </a:p>
        </p:txBody>
      </p:sp>
      <p:sp>
        <p:nvSpPr>
          <p:cNvPr id="4" name="Text 2"/>
          <p:cNvSpPr/>
          <p:nvPr/>
        </p:nvSpPr>
        <p:spPr>
          <a:xfrm>
            <a:off x="640080" y="3200400"/>
            <a:ext cx="8686800" cy="731520"/>
          </a:xfrm>
          <a:prstGeom prst="rect">
            <a:avLst/>
          </a:prstGeom>
          <a:noFill/>
          <a:ln/>
        </p:spPr>
        <p:txBody>
          <a:bodyPr wrap="square" lIns="0" tIns="0" rIns="0" bIns="0" rtlCol="0" anchor="ctr"/>
          <a:lstStyle/>
          <a:p>
            <a:pPr indent="0" marL="0">
              <a:lnSpc>
                <a:spcPct val="125000"/>
              </a:lnSpc>
              <a:buNone/>
            </a:pPr>
            <a:r>
              <a:rPr lang="en-US" sz="1300" dirty="0">
                <a:solidFill>
                  <a:srgbClr val="6A6157"/>
                </a:solidFill>
                <a:latin typeface="Calibri" pitchFamily="34" charset="0"/>
                <a:ea typeface="Calibri" pitchFamily="34" charset="-122"/>
                <a:cs typeface="Calibri" pitchFamily="34" charset="-120"/>
              </a:rPr>
              <a:t>A website that's live, and an app you can put on your phone right now. It's just a link. No app store, no invites.</a:t>
            </a:r>
            <a:endParaRPr lang="en-US" sz="1300" dirty="0"/>
          </a:p>
        </p:txBody>
      </p:sp>
      <p:sp>
        <p:nvSpPr>
          <p:cNvPr id="5" name="Text 3"/>
          <p:cNvSpPr/>
          <p:nvPr/>
        </p:nvSpPr>
        <p:spPr>
          <a:xfrm>
            <a:off x="640080" y="4206240"/>
            <a:ext cx="7315200" cy="365760"/>
          </a:xfrm>
          <a:prstGeom prst="rect">
            <a:avLst/>
          </a:prstGeom>
          <a:noFill/>
          <a:ln/>
        </p:spPr>
        <p:txBody>
          <a:bodyPr wrap="square" lIns="0" tIns="0" rIns="0" bIns="0" rtlCol="0" anchor="ctr"/>
          <a:lstStyle/>
          <a:p>
            <a:pPr indent="0" marL="0">
              <a:buNone/>
            </a:pPr>
            <a:r>
              <a:rPr lang="en-US" sz="1200" spc="100" kern="0" dirty="0">
                <a:solidFill>
                  <a:srgbClr val="9C9184"/>
                </a:solidFill>
                <a:latin typeface="Consolas" pitchFamily="34" charset="0"/>
                <a:ea typeface="Consolas" pitchFamily="34" charset="-122"/>
                <a:cs typeface="Consolas" pitchFamily="34" charset="-120"/>
              </a:rPr>
              <a:t>THANK YOU  ·  QUESTIONS?</a:t>
            </a:r>
            <a:endParaRPr lang="en-US" sz="1200" dirty="0"/>
          </a:p>
        </p:txBody>
      </p:sp>
      <p:sp>
        <p:nvSpPr>
          <p:cNvPr id="6" name="Text 4"/>
          <p:cNvSpPr/>
          <p:nvPr/>
        </p:nvSpPr>
        <p:spPr>
          <a:xfrm>
            <a:off x="457200" y="6355080"/>
            <a:ext cx="1828800" cy="274320"/>
          </a:xfrm>
          <a:prstGeom prst="rect">
            <a:avLst/>
          </a:prstGeom>
          <a:noFill/>
          <a:ln/>
        </p:spPr>
        <p:txBody>
          <a:bodyPr wrap="square" lIns="0" tIns="0" rIns="0" bIns="0" rtlCol="0" anchor="ctr"/>
          <a:lstStyle/>
          <a:p>
            <a:pPr algn="l" indent="0" marL="0">
              <a:buNone/>
            </a:pPr>
            <a:r>
              <a:rPr lang="en-US" sz="900" dirty="0">
                <a:solidFill>
                  <a:srgbClr val="9C9184"/>
                </a:solidFill>
                <a:latin typeface="Consolas" pitchFamily="34" charset="0"/>
                <a:ea typeface="Consolas" pitchFamily="34" charset="-122"/>
                <a:cs typeface="Consolas"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2026-08-22T03:31:38Z</dcterms:created>
  <dcterms:modified xsi:type="dcterms:W3CDTF">2026-08-22T03:31:38Z</dcterms:modified>
</cp:coreProperties>
</file>